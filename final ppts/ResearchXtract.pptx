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Barlow Light" panose="00000400000000000000" pitchFamily="2" charset="0"/>
      <p:regular r:id="rId14"/>
      <p:italic r:id="rId15"/>
    </p:embeddedFont>
    <p:embeddedFont>
      <p:font typeface="Montserrat" panose="00000500000000000000" pitchFamily="2" charset="0"/>
      <p:regular r:id="rId16"/>
    </p:embeddedFont>
    <p:embeddedFont>
      <p:font typeface="Segoe UI Semibold" panose="020B0702040204020203" pitchFamily="34" charset="0"/>
      <p:bold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5" d="100"/>
          <a:sy n="55" d="100"/>
        </p:scale>
        <p:origin x="6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639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1590199"/>
            <a:ext cx="13113782" cy="1425416"/>
          </a:xfrm>
          <a:prstGeom prst="rect">
            <a:avLst/>
          </a:prstGeom>
          <a:noFill/>
          <a:ln/>
        </p:spPr>
        <p:txBody>
          <a:bodyPr wrap="square" lIns="0" tIns="0" rIns="0" bIns="0" rtlCol="0" anchor="t"/>
          <a:lstStyle/>
          <a:p>
            <a:pPr marL="0" indent="0" algn="l">
              <a:lnSpc>
                <a:spcPts val="5600"/>
              </a:lnSpc>
              <a:buNone/>
            </a:pPr>
            <a:r>
              <a:rPr lang="en-US" sz="4450" b="1" dirty="0">
                <a:solidFill>
                  <a:schemeClr val="tx2">
                    <a:lumMod val="50000"/>
                  </a:schemeClr>
                </a:solidFill>
                <a:latin typeface="Arial" panose="020B0604020202020204" pitchFamily="34" charset="0"/>
                <a:ea typeface="Barlow Bold"/>
                <a:cs typeface="Arial" panose="020B0604020202020204" pitchFamily="34" charset="0"/>
              </a:rPr>
              <a:t>ResearchXtract – Research Paper Insight Extractor &amp; Structured Summarizer</a:t>
            </a:r>
            <a:endParaRPr lang="en-US" sz="4450" dirty="0">
              <a:solidFill>
                <a:schemeClr val="tx2">
                  <a:lumMod val="50000"/>
                </a:schemeClr>
              </a:solidFill>
              <a:latin typeface="Arial" panose="020B0604020202020204" pitchFamily="34" charset="0"/>
              <a:ea typeface="Barlow Bold"/>
              <a:cs typeface="Arial" panose="020B0604020202020204" pitchFamily="34" charset="0"/>
            </a:endParaRPr>
          </a:p>
        </p:txBody>
      </p:sp>
      <p:sp>
        <p:nvSpPr>
          <p:cNvPr id="3" name="Text 1"/>
          <p:cNvSpPr/>
          <p:nvPr/>
        </p:nvSpPr>
        <p:spPr>
          <a:xfrm>
            <a:off x="758309" y="3340537"/>
            <a:ext cx="13113782" cy="346710"/>
          </a:xfrm>
          <a:prstGeom prst="rect">
            <a:avLst/>
          </a:prstGeom>
          <a:noFill/>
          <a:ln/>
        </p:spPr>
        <p:txBody>
          <a:bodyPr wrap="none" lIns="0" tIns="0" rIns="0" bIns="0" rtlCol="0" anchor="t"/>
          <a:lstStyle/>
          <a:p>
            <a:pPr marL="0" indent="0" algn="l">
              <a:lnSpc>
                <a:spcPts val="2700"/>
              </a:lnSpc>
              <a:buNone/>
            </a:pPr>
            <a:r>
              <a:rPr lang="en-US" sz="1700" b="1" dirty="0">
                <a:solidFill>
                  <a:schemeClr val="tx1">
                    <a:lumMod val="85000"/>
                    <a:lumOff val="15000"/>
                  </a:schemeClr>
                </a:solidFill>
                <a:latin typeface="Montserrat" pitchFamily="34" charset="0"/>
                <a:ea typeface="Montserrat" pitchFamily="34" charset="-122"/>
                <a:cs typeface="Montserrat" pitchFamily="34" charset="-120"/>
              </a:rPr>
              <a:t>Degree:</a:t>
            </a:r>
            <a:r>
              <a:rPr lang="en-US" sz="1700" dirty="0">
                <a:solidFill>
                  <a:schemeClr val="tx1">
                    <a:lumMod val="85000"/>
                    <a:lumOff val="15000"/>
                  </a:schemeClr>
                </a:solidFill>
                <a:latin typeface="Montserrat" pitchFamily="34" charset="0"/>
                <a:ea typeface="Montserrat" pitchFamily="34" charset="-122"/>
                <a:cs typeface="Montserrat" pitchFamily="34" charset="-120"/>
              </a:rPr>
              <a:t> </a:t>
            </a:r>
            <a:r>
              <a:rPr lang="en-US" sz="1700" dirty="0">
                <a:solidFill>
                  <a:srgbClr val="384653"/>
                </a:solidFill>
                <a:latin typeface="Montserrat" pitchFamily="34" charset="0"/>
                <a:ea typeface="Montserrat" pitchFamily="34" charset="-122"/>
                <a:cs typeface="Montserrat" pitchFamily="34" charset="-120"/>
              </a:rPr>
              <a:t>Bachelor of Technology (B.Tech)</a:t>
            </a:r>
            <a:endParaRPr lang="en-US" sz="1700" dirty="0"/>
          </a:p>
        </p:txBody>
      </p:sp>
      <p:sp>
        <p:nvSpPr>
          <p:cNvPr id="4" name="Text 2"/>
          <p:cNvSpPr/>
          <p:nvPr/>
        </p:nvSpPr>
        <p:spPr>
          <a:xfrm>
            <a:off x="758309" y="3879473"/>
            <a:ext cx="13113782" cy="346710"/>
          </a:xfrm>
          <a:prstGeom prst="rect">
            <a:avLst/>
          </a:prstGeom>
          <a:noFill/>
          <a:ln/>
        </p:spPr>
        <p:txBody>
          <a:bodyPr wrap="none" lIns="0" tIns="0" rIns="0" bIns="0" rtlCol="0" anchor="t"/>
          <a:lstStyle/>
          <a:p>
            <a:pPr marL="0" indent="0" algn="l">
              <a:lnSpc>
                <a:spcPts val="2700"/>
              </a:lnSpc>
              <a:buNone/>
            </a:pPr>
            <a:r>
              <a:rPr lang="en-US" sz="1700" b="1" dirty="0">
                <a:solidFill>
                  <a:schemeClr val="tx1">
                    <a:lumMod val="75000"/>
                    <a:lumOff val="25000"/>
                  </a:schemeClr>
                </a:solidFill>
                <a:latin typeface="Montserrat" pitchFamily="34" charset="0"/>
                <a:ea typeface="Montserrat" pitchFamily="34" charset="-122"/>
                <a:cs typeface="Montserrat" pitchFamily="34" charset="-120"/>
              </a:rPr>
              <a:t>Branch:</a:t>
            </a:r>
            <a:r>
              <a:rPr lang="en-US" sz="1700" dirty="0">
                <a:solidFill>
                  <a:schemeClr val="tx1">
                    <a:lumMod val="75000"/>
                    <a:lumOff val="25000"/>
                  </a:schemeClr>
                </a:solidFill>
                <a:latin typeface="Montserrat" pitchFamily="34" charset="0"/>
                <a:ea typeface="Montserrat" pitchFamily="34" charset="-122"/>
                <a:cs typeface="Montserrat" pitchFamily="34" charset="-120"/>
              </a:rPr>
              <a:t> </a:t>
            </a:r>
            <a:r>
              <a:rPr lang="en-US" sz="1700" dirty="0">
                <a:solidFill>
                  <a:srgbClr val="384653"/>
                </a:solidFill>
                <a:latin typeface="Montserrat" pitchFamily="34" charset="0"/>
                <a:ea typeface="Montserrat" pitchFamily="34" charset="-122"/>
                <a:cs typeface="Montserrat" pitchFamily="34" charset="-120"/>
              </a:rPr>
              <a:t>Information Technology</a:t>
            </a:r>
            <a:endParaRPr lang="en-US" sz="1700" dirty="0"/>
          </a:p>
        </p:txBody>
      </p:sp>
      <p:sp>
        <p:nvSpPr>
          <p:cNvPr id="5" name="Text 3"/>
          <p:cNvSpPr/>
          <p:nvPr/>
        </p:nvSpPr>
        <p:spPr>
          <a:xfrm>
            <a:off x="758309" y="4521398"/>
            <a:ext cx="13113782" cy="346710"/>
          </a:xfrm>
          <a:prstGeom prst="rect">
            <a:avLst/>
          </a:prstGeom>
          <a:noFill/>
          <a:ln/>
        </p:spPr>
        <p:txBody>
          <a:bodyPr wrap="none" lIns="0" tIns="0" rIns="0" bIns="0" rtlCol="0" anchor="t"/>
          <a:lstStyle/>
          <a:p>
            <a:pPr marL="0" indent="0" algn="l">
              <a:lnSpc>
                <a:spcPts val="2700"/>
              </a:lnSpc>
              <a:buNone/>
            </a:pPr>
            <a:r>
              <a:rPr lang="en-US" sz="1700" b="1" dirty="0">
                <a:solidFill>
                  <a:schemeClr val="tx1">
                    <a:lumMod val="75000"/>
                    <a:lumOff val="25000"/>
                  </a:schemeClr>
                </a:solidFill>
                <a:latin typeface="Montserrat" pitchFamily="34" charset="0"/>
                <a:ea typeface="Montserrat" pitchFamily="34" charset="-122"/>
                <a:cs typeface="Montserrat" pitchFamily="34" charset="-120"/>
              </a:rPr>
              <a:t>Institution:</a:t>
            </a:r>
            <a:r>
              <a:rPr lang="en-US" sz="1700" dirty="0">
                <a:solidFill>
                  <a:srgbClr val="384653"/>
                </a:solidFill>
                <a:latin typeface="Montserrat" pitchFamily="34" charset="0"/>
                <a:ea typeface="Montserrat" pitchFamily="34" charset="-122"/>
                <a:cs typeface="Montserrat" pitchFamily="34" charset="-120"/>
              </a:rPr>
              <a:t>  Perunthalaivar Kamarajar Institute of Engineering and Technology (PTU)</a:t>
            </a:r>
            <a:endParaRPr lang="en-US" sz="1700" dirty="0"/>
          </a:p>
        </p:txBody>
      </p:sp>
      <p:sp>
        <p:nvSpPr>
          <p:cNvPr id="6" name="Text 4"/>
          <p:cNvSpPr/>
          <p:nvPr/>
        </p:nvSpPr>
        <p:spPr>
          <a:xfrm>
            <a:off x="758309" y="5111829"/>
            <a:ext cx="13113782" cy="346710"/>
          </a:xfrm>
          <a:prstGeom prst="rect">
            <a:avLst/>
          </a:prstGeom>
          <a:noFill/>
          <a:ln/>
        </p:spPr>
        <p:txBody>
          <a:bodyPr wrap="none" lIns="0" tIns="0" rIns="0" bIns="0" rtlCol="0" anchor="t"/>
          <a:lstStyle/>
          <a:p>
            <a:pPr marL="0" indent="0" algn="l">
              <a:lnSpc>
                <a:spcPts val="2700"/>
              </a:lnSpc>
              <a:buNone/>
            </a:pPr>
            <a:r>
              <a:rPr lang="en-US" sz="1700" b="1" dirty="0">
                <a:solidFill>
                  <a:schemeClr val="tx1">
                    <a:lumMod val="75000"/>
                    <a:lumOff val="25000"/>
                  </a:schemeClr>
                </a:solidFill>
                <a:latin typeface="Montserrat" pitchFamily="34" charset="0"/>
                <a:ea typeface="Montserrat" pitchFamily="34" charset="-122"/>
                <a:cs typeface="Montserrat" pitchFamily="34" charset="-120"/>
              </a:rPr>
              <a:t>Academic Year:</a:t>
            </a:r>
            <a:r>
              <a:rPr lang="en-US" sz="1700" dirty="0">
                <a:solidFill>
                  <a:schemeClr val="tx1">
                    <a:lumMod val="75000"/>
                    <a:lumOff val="25000"/>
                  </a:schemeClr>
                </a:solidFill>
                <a:latin typeface="Montserrat" pitchFamily="34" charset="0"/>
                <a:ea typeface="Montserrat" pitchFamily="34" charset="-122"/>
                <a:cs typeface="Montserrat" pitchFamily="34" charset="-120"/>
              </a:rPr>
              <a:t> </a:t>
            </a:r>
            <a:r>
              <a:rPr lang="en-US" sz="1700" dirty="0">
                <a:solidFill>
                  <a:srgbClr val="384653"/>
                </a:solidFill>
                <a:latin typeface="Montserrat" pitchFamily="34" charset="0"/>
                <a:ea typeface="Montserrat" pitchFamily="34" charset="-122"/>
                <a:cs typeface="Montserrat" pitchFamily="34" charset="-120"/>
              </a:rPr>
              <a:t>2022-2026</a:t>
            </a:r>
            <a:endParaRPr lang="en-US" sz="1700" dirty="0"/>
          </a:p>
        </p:txBody>
      </p:sp>
      <p:sp>
        <p:nvSpPr>
          <p:cNvPr id="7" name="Text 5"/>
          <p:cNvSpPr/>
          <p:nvPr/>
        </p:nvSpPr>
        <p:spPr>
          <a:xfrm>
            <a:off x="758309" y="5702260"/>
            <a:ext cx="13113782" cy="346710"/>
          </a:xfrm>
          <a:prstGeom prst="rect">
            <a:avLst/>
          </a:prstGeom>
          <a:noFill/>
          <a:ln/>
        </p:spPr>
        <p:txBody>
          <a:bodyPr wrap="none" lIns="0" tIns="0" rIns="0" bIns="0" rtlCol="0" anchor="t"/>
          <a:lstStyle/>
          <a:p>
            <a:pPr marL="0" indent="0" algn="l">
              <a:lnSpc>
                <a:spcPts val="2700"/>
              </a:lnSpc>
              <a:buNone/>
            </a:pPr>
            <a:r>
              <a:rPr lang="en-US" sz="1700" b="1" dirty="0">
                <a:solidFill>
                  <a:schemeClr val="tx1">
                    <a:lumMod val="75000"/>
                    <a:lumOff val="25000"/>
                  </a:schemeClr>
                </a:solidFill>
                <a:latin typeface="Montserrat" pitchFamily="34" charset="0"/>
                <a:ea typeface="Montserrat" pitchFamily="34" charset="-122"/>
                <a:cs typeface="Montserrat" pitchFamily="34" charset="-120"/>
              </a:rPr>
              <a:t>Team Members</a:t>
            </a:r>
            <a:r>
              <a:rPr lang="en-US" sz="1700" b="1" dirty="0">
                <a:solidFill>
                  <a:srgbClr val="384653"/>
                </a:solidFill>
                <a:latin typeface="Montserrat" pitchFamily="34" charset="0"/>
                <a:ea typeface="Montserrat" pitchFamily="34" charset="-122"/>
                <a:cs typeface="Montserrat" pitchFamily="34" charset="-120"/>
              </a:rPr>
              <a:t>:</a:t>
            </a:r>
            <a:r>
              <a:rPr lang="en-US" sz="1700" dirty="0">
                <a:solidFill>
                  <a:srgbClr val="384653"/>
                </a:solidFill>
                <a:latin typeface="Montserrat" pitchFamily="34" charset="0"/>
                <a:ea typeface="Montserrat" pitchFamily="34" charset="-122"/>
                <a:cs typeface="Montserrat" pitchFamily="34" charset="-120"/>
              </a:rPr>
              <a:t> S.Harshavardhani, S.Sharanya, K.Srihari</a:t>
            </a:r>
            <a:endParaRPr lang="en-US" sz="1700" dirty="0"/>
          </a:p>
        </p:txBody>
      </p:sp>
      <p:sp>
        <p:nvSpPr>
          <p:cNvPr id="8" name="Text 6"/>
          <p:cNvSpPr/>
          <p:nvPr/>
        </p:nvSpPr>
        <p:spPr>
          <a:xfrm>
            <a:off x="758309" y="6292691"/>
            <a:ext cx="13113782" cy="346710"/>
          </a:xfrm>
          <a:prstGeom prst="rect">
            <a:avLst/>
          </a:prstGeom>
          <a:noFill/>
          <a:ln/>
        </p:spPr>
        <p:txBody>
          <a:bodyPr wrap="none" lIns="0" tIns="0" rIns="0" bIns="0" rtlCol="0" anchor="t"/>
          <a:lstStyle/>
          <a:p>
            <a:pPr marL="0" indent="0" algn="l">
              <a:lnSpc>
                <a:spcPts val="2700"/>
              </a:lnSpc>
              <a:buNone/>
            </a:pPr>
            <a:r>
              <a:rPr lang="en-US" sz="1700" b="1" dirty="0">
                <a:solidFill>
                  <a:schemeClr val="tx1">
                    <a:lumMod val="75000"/>
                    <a:lumOff val="25000"/>
                  </a:schemeClr>
                </a:solidFill>
                <a:latin typeface="Montserrat" pitchFamily="34" charset="0"/>
                <a:ea typeface="Montserrat" pitchFamily="34" charset="-122"/>
                <a:cs typeface="Montserrat" pitchFamily="34" charset="-120"/>
              </a:rPr>
              <a:t>Project Guide:</a:t>
            </a:r>
            <a:r>
              <a:rPr lang="en-US" sz="1700" dirty="0">
                <a:solidFill>
                  <a:schemeClr val="tx1">
                    <a:lumMod val="75000"/>
                    <a:lumOff val="25000"/>
                  </a:schemeClr>
                </a:solidFill>
                <a:latin typeface="Montserrat" pitchFamily="34" charset="0"/>
                <a:ea typeface="Montserrat" pitchFamily="34" charset="-122"/>
                <a:cs typeface="Montserrat" pitchFamily="34" charset="-120"/>
              </a:rPr>
              <a:t> </a:t>
            </a:r>
            <a:r>
              <a:rPr lang="en-US" sz="1700" dirty="0">
                <a:solidFill>
                  <a:srgbClr val="384653"/>
                </a:solidFill>
                <a:latin typeface="Montserrat" pitchFamily="34" charset="0"/>
                <a:ea typeface="Montserrat" pitchFamily="34" charset="-122"/>
                <a:cs typeface="Montserrat" pitchFamily="34" charset="-120"/>
              </a:rPr>
              <a:t>Dr. D. Rajaguru</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309" y="1788914"/>
            <a:ext cx="1186339" cy="407075"/>
          </a:xfrm>
          <a:prstGeom prst="roundRect">
            <a:avLst>
              <a:gd name="adj" fmla="val 63869"/>
            </a:avLst>
          </a:prstGeom>
          <a:solidFill>
            <a:srgbClr val="D4E9F7"/>
          </a:solidFill>
          <a:ln/>
        </p:spPr>
      </p:sp>
      <p:sp>
        <p:nvSpPr>
          <p:cNvPr id="3" name="Text 1"/>
          <p:cNvSpPr/>
          <p:nvPr/>
        </p:nvSpPr>
        <p:spPr>
          <a:xfrm>
            <a:off x="888206" y="1853803"/>
            <a:ext cx="926544" cy="277297"/>
          </a:xfrm>
          <a:prstGeom prst="rect">
            <a:avLst/>
          </a:prstGeom>
          <a:noFill/>
          <a:ln/>
        </p:spPr>
        <p:txBody>
          <a:bodyPr wrap="none" lIns="0" tIns="0" rIns="0" bIns="0" rtlCol="0" anchor="t"/>
          <a:lstStyle/>
          <a:p>
            <a:pPr marL="0" indent="0" algn="l">
              <a:lnSpc>
                <a:spcPts val="2150"/>
              </a:lnSpc>
              <a:buNone/>
            </a:pPr>
            <a:r>
              <a:rPr lang="en-US" sz="1350" dirty="0">
                <a:solidFill>
                  <a:srgbClr val="384653"/>
                </a:solidFill>
                <a:latin typeface="Montserrat" pitchFamily="34" charset="0"/>
                <a:ea typeface="Montserrat" pitchFamily="34" charset="-122"/>
                <a:cs typeface="Montserrat" pitchFamily="34" charset="-120"/>
              </a:rPr>
              <a:t>ABSTRACT</a:t>
            </a:r>
            <a:endParaRPr lang="en-US" sz="1350" dirty="0"/>
          </a:p>
        </p:txBody>
      </p:sp>
      <p:sp>
        <p:nvSpPr>
          <p:cNvPr id="4" name="Text 2"/>
          <p:cNvSpPr/>
          <p:nvPr/>
        </p:nvSpPr>
        <p:spPr>
          <a:xfrm>
            <a:off x="758309" y="2282547"/>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Segoe UI Semibold" panose="020B0702040204020203" pitchFamily="34" charset="0"/>
                <a:ea typeface="Barlow Bold" pitchFamily="34" charset="-122"/>
                <a:cs typeface="Segoe UI Semibold" panose="020B0702040204020203" pitchFamily="34" charset="0"/>
              </a:rPr>
              <a:t>Project Overview</a:t>
            </a:r>
            <a:endParaRPr lang="en-US" sz="4450" dirty="0"/>
          </a:p>
        </p:txBody>
      </p:sp>
      <p:sp>
        <p:nvSpPr>
          <p:cNvPr id="5" name="Text 3"/>
          <p:cNvSpPr/>
          <p:nvPr/>
        </p:nvSpPr>
        <p:spPr>
          <a:xfrm>
            <a:off x="758309" y="3320177"/>
            <a:ext cx="13113782" cy="312039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The exponential growth of academic research publications has made it increasingly difficult for researchers and students to efficiently analyze and extract meaningful insights from lengthy research papers. Manual review of these documents is time-consuming and often results in incomplete understanding of key contributions. ResearchXtract addresses this challenge by providing an AI-powered solution that performs intelligent extraction and structured summarization of research papers. The system leverages advanced Natural Language Processing models and transformer architectures to automatically detect paper sections, extract metadata, identify key concepts and definitions, highlight important equations, and generate customizable, section-wise summaries. Built using Python, state-of-the-art NLP libraries, and PDF processing tools, ResearchXtract produces well-structured outputs with visual representations, enabling users to quickly grasp the essential content and contributions of academic papers up to 25 pages in length.</a:t>
            </a:r>
            <a:endParaRPr lang="en-US" sz="17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58309" y="1516023"/>
            <a:ext cx="4246126" cy="4246126"/>
          </a:xfrm>
          <a:prstGeom prst="rect">
            <a:avLst/>
          </a:prstGeom>
        </p:spPr>
      </p:pic>
      <p:sp>
        <p:nvSpPr>
          <p:cNvPr id="3" name="Text 0"/>
          <p:cNvSpPr/>
          <p:nvPr/>
        </p:nvSpPr>
        <p:spPr>
          <a:xfrm>
            <a:off x="5540693" y="1488877"/>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Segoe UI Semibold" panose="020B0702040204020203" pitchFamily="34" charset="0"/>
                <a:ea typeface="Barlow Bold" pitchFamily="34" charset="-122"/>
                <a:cs typeface="Segoe UI Semibold" panose="020B0702040204020203" pitchFamily="34" charset="0"/>
              </a:rPr>
              <a:t>Introduction</a:t>
            </a:r>
            <a:endParaRPr lang="en-US" sz="4450" dirty="0"/>
          </a:p>
        </p:txBody>
      </p:sp>
      <p:sp>
        <p:nvSpPr>
          <p:cNvPr id="4" name="Text 1"/>
          <p:cNvSpPr/>
          <p:nvPr/>
        </p:nvSpPr>
        <p:spPr>
          <a:xfrm>
            <a:off x="5540693" y="2418159"/>
            <a:ext cx="8338899" cy="415991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Manual analysis of research papers is labor-intensive, requiring significant time to read, understand, and extract key insights from lengthy documents.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Researchers and students face increasing challenges in keeping pace with the volume of literature relevant to their fields of study.</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Academic research publications have grown exponentially in recent years, with millions of papers published annually across various domains.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Traditional approaches to paper review often result in missed important details or incomplete understanding of methodologies and contributions.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There exists a critical need for intelligent automated systems that can analyze academic papers and provide structured, comprehensive summaries.</a:t>
            </a:r>
            <a:endParaRPr lang="en-US" sz="17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838206"/>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Segoe UI Semibold" panose="020B0702040204020203" pitchFamily="34" charset="0"/>
                <a:ea typeface="Barlow Bold" pitchFamily="34" charset="-122"/>
                <a:cs typeface="Segoe UI Semibold" panose="020B0702040204020203" pitchFamily="34" charset="0"/>
              </a:rPr>
              <a:t>Problem Statement</a:t>
            </a:r>
            <a:endParaRPr lang="en-US" sz="4450" dirty="0"/>
          </a:p>
        </p:txBody>
      </p:sp>
      <p:sp>
        <p:nvSpPr>
          <p:cNvPr id="3" name="Shape 1"/>
          <p:cNvSpPr/>
          <p:nvPr/>
        </p:nvSpPr>
        <p:spPr>
          <a:xfrm>
            <a:off x="758309" y="2984183"/>
            <a:ext cx="4226838" cy="3407212"/>
          </a:xfrm>
          <a:prstGeom prst="roundRect">
            <a:avLst>
              <a:gd name="adj" fmla="val 4294"/>
            </a:avLst>
          </a:prstGeom>
          <a:solidFill>
            <a:srgbClr val="FFFFFF"/>
          </a:solidFill>
          <a:ln w="30480">
            <a:solidFill>
              <a:srgbClr val="BACFDD"/>
            </a:solidFill>
            <a:prstDash val="solid"/>
          </a:ln>
        </p:spPr>
      </p:sp>
      <p:pic>
        <p:nvPicPr>
          <p:cNvPr id="4" name="Image 0" descr="preencoded.png"/>
          <p:cNvPicPr>
            <a:picLocks noChangeAspect="1"/>
          </p:cNvPicPr>
          <p:nvPr/>
        </p:nvPicPr>
        <p:blipFill>
          <a:blip r:embed="rId3"/>
          <a:stretch>
            <a:fillRect/>
          </a:stretch>
        </p:blipFill>
        <p:spPr>
          <a:xfrm>
            <a:off x="727829" y="2984183"/>
            <a:ext cx="121920" cy="3407212"/>
          </a:xfrm>
          <a:prstGeom prst="rect">
            <a:avLst/>
          </a:prstGeom>
        </p:spPr>
      </p:pic>
      <p:sp>
        <p:nvSpPr>
          <p:cNvPr id="5" name="Text 2"/>
          <p:cNvSpPr/>
          <p:nvPr/>
        </p:nvSpPr>
        <p:spPr>
          <a:xfrm>
            <a:off x="1096804" y="3231237"/>
            <a:ext cx="2906316"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Length and Complexity</a:t>
            </a:r>
            <a:endParaRPr lang="en-US" sz="2200" dirty="0"/>
          </a:p>
        </p:txBody>
      </p:sp>
      <p:sp>
        <p:nvSpPr>
          <p:cNvPr id="6" name="Text 3"/>
          <p:cNvSpPr/>
          <p:nvPr/>
        </p:nvSpPr>
        <p:spPr>
          <a:xfrm>
            <a:off x="1096804" y="3717369"/>
            <a:ext cx="3641288" cy="242697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Research papers typically span 10-25 pages with dense technical content, complex methodologies, and specialized terminology that require significant time and expertise to comprehend fully</a:t>
            </a:r>
            <a:endParaRPr lang="en-US" sz="1700" dirty="0"/>
          </a:p>
        </p:txBody>
      </p:sp>
      <p:sp>
        <p:nvSpPr>
          <p:cNvPr id="7" name="Shape 4"/>
          <p:cNvSpPr/>
          <p:nvPr/>
        </p:nvSpPr>
        <p:spPr>
          <a:xfrm>
            <a:off x="5201722" y="2984183"/>
            <a:ext cx="4226838" cy="3407212"/>
          </a:xfrm>
          <a:prstGeom prst="roundRect">
            <a:avLst>
              <a:gd name="adj" fmla="val 4294"/>
            </a:avLst>
          </a:prstGeom>
          <a:solidFill>
            <a:srgbClr val="FFFFFF"/>
          </a:solidFill>
          <a:ln w="30480">
            <a:solidFill>
              <a:srgbClr val="BACFDD"/>
            </a:solidFill>
            <a:prstDash val="solid"/>
          </a:ln>
        </p:spPr>
      </p:sp>
      <p:pic>
        <p:nvPicPr>
          <p:cNvPr id="8" name="Image 1" descr="preencoded.png"/>
          <p:cNvPicPr>
            <a:picLocks noChangeAspect="1"/>
          </p:cNvPicPr>
          <p:nvPr/>
        </p:nvPicPr>
        <p:blipFill>
          <a:blip r:embed="rId3"/>
          <a:stretch>
            <a:fillRect/>
          </a:stretch>
        </p:blipFill>
        <p:spPr>
          <a:xfrm>
            <a:off x="5171242" y="2984183"/>
            <a:ext cx="121920" cy="3407212"/>
          </a:xfrm>
          <a:prstGeom prst="rect">
            <a:avLst/>
          </a:prstGeom>
        </p:spPr>
      </p:pic>
      <p:sp>
        <p:nvSpPr>
          <p:cNvPr id="9" name="Text 5"/>
          <p:cNvSpPr/>
          <p:nvPr/>
        </p:nvSpPr>
        <p:spPr>
          <a:xfrm>
            <a:off x="5540216" y="3231237"/>
            <a:ext cx="295358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Shallow Summarization</a:t>
            </a:r>
            <a:endParaRPr lang="en-US" sz="2200" dirty="0"/>
          </a:p>
        </p:txBody>
      </p:sp>
      <p:sp>
        <p:nvSpPr>
          <p:cNvPr id="10" name="Text 6"/>
          <p:cNvSpPr/>
          <p:nvPr/>
        </p:nvSpPr>
        <p:spPr>
          <a:xfrm>
            <a:off x="5540216" y="3717369"/>
            <a:ext cx="3641288" cy="242697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Existing summarization tools provide only surface-level abstracts without capturing the structural organization, key contributions, or domain-specific insights present in academic papers</a:t>
            </a:r>
            <a:endParaRPr lang="en-US" sz="1700" dirty="0"/>
          </a:p>
        </p:txBody>
      </p:sp>
      <p:sp>
        <p:nvSpPr>
          <p:cNvPr id="11" name="Shape 7"/>
          <p:cNvSpPr/>
          <p:nvPr/>
        </p:nvSpPr>
        <p:spPr>
          <a:xfrm>
            <a:off x="9645134" y="2984183"/>
            <a:ext cx="4226957" cy="3407212"/>
          </a:xfrm>
          <a:prstGeom prst="roundRect">
            <a:avLst>
              <a:gd name="adj" fmla="val 4294"/>
            </a:avLst>
          </a:prstGeom>
          <a:solidFill>
            <a:srgbClr val="FFFFFF"/>
          </a:solidFill>
          <a:ln w="30480">
            <a:solidFill>
              <a:srgbClr val="BACFDD"/>
            </a:solidFill>
            <a:prstDash val="solid"/>
          </a:ln>
        </p:spPr>
      </p:sp>
      <p:pic>
        <p:nvPicPr>
          <p:cNvPr id="12" name="Image 2" descr="preencoded.png"/>
          <p:cNvPicPr>
            <a:picLocks noChangeAspect="1"/>
          </p:cNvPicPr>
          <p:nvPr/>
        </p:nvPicPr>
        <p:blipFill>
          <a:blip r:embed="rId3"/>
          <a:stretch>
            <a:fillRect/>
          </a:stretch>
        </p:blipFill>
        <p:spPr>
          <a:xfrm>
            <a:off x="9614654" y="2984183"/>
            <a:ext cx="121920" cy="3407212"/>
          </a:xfrm>
          <a:prstGeom prst="rect">
            <a:avLst/>
          </a:prstGeom>
        </p:spPr>
      </p:pic>
      <p:sp>
        <p:nvSpPr>
          <p:cNvPr id="13" name="Text 8"/>
          <p:cNvSpPr/>
          <p:nvPr/>
        </p:nvSpPr>
        <p:spPr>
          <a:xfrm>
            <a:off x="9983629" y="3231237"/>
            <a:ext cx="3078718"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Lack of Academic Focus</a:t>
            </a:r>
            <a:endParaRPr lang="en-US" sz="2200" dirty="0"/>
          </a:p>
        </p:txBody>
      </p:sp>
      <p:sp>
        <p:nvSpPr>
          <p:cNvPr id="14" name="Text 9"/>
          <p:cNvSpPr/>
          <p:nvPr/>
        </p:nvSpPr>
        <p:spPr>
          <a:xfrm>
            <a:off x="9983629" y="3717369"/>
            <a:ext cx="3641408" cy="242697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Current solutions are not optimized for research paper format, failing to identify critical elements such as methodology sections, experimental results, equations, and theoretical frameworks</a:t>
            </a:r>
            <a:endParaRPr lang="en-US" sz="17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601200" cy="8229600"/>
          </a:xfrm>
          <a:prstGeom prst="rect">
            <a:avLst/>
          </a:prstGeom>
        </p:spPr>
      </p:pic>
      <p:sp>
        <p:nvSpPr>
          <p:cNvPr id="3" name="Text 0"/>
          <p:cNvSpPr/>
          <p:nvPr/>
        </p:nvSpPr>
        <p:spPr>
          <a:xfrm>
            <a:off x="9902309" y="838438"/>
            <a:ext cx="3969782" cy="498872"/>
          </a:xfrm>
          <a:prstGeom prst="rect">
            <a:avLst/>
          </a:prstGeom>
          <a:noFill/>
          <a:ln/>
        </p:spPr>
        <p:txBody>
          <a:bodyPr wrap="none" lIns="0" tIns="0" rIns="0" bIns="0" rtlCol="0" anchor="t"/>
          <a:lstStyle/>
          <a:p>
            <a:pPr marL="0" indent="0" algn="l">
              <a:lnSpc>
                <a:spcPts val="3900"/>
              </a:lnSpc>
              <a:buNone/>
            </a:pPr>
            <a:r>
              <a:rPr lang="en-US" sz="3100" b="1" dirty="0">
                <a:solidFill>
                  <a:srgbClr val="2E3C4E"/>
                </a:solidFill>
                <a:latin typeface="Segoe UI Semibold" panose="020B0702040204020203" pitchFamily="34" charset="0"/>
                <a:ea typeface="Barlow Bold" pitchFamily="34" charset="-122"/>
                <a:cs typeface="Segoe UI Semibold" panose="020B0702040204020203" pitchFamily="34" charset="0"/>
              </a:rPr>
              <a:t>Project Objectives</a:t>
            </a:r>
            <a:endParaRPr lang="en-US" sz="3100" dirty="0"/>
          </a:p>
        </p:txBody>
      </p:sp>
      <p:sp>
        <p:nvSpPr>
          <p:cNvPr id="4" name="Text 1"/>
          <p:cNvSpPr/>
          <p:nvPr/>
        </p:nvSpPr>
        <p:spPr>
          <a:xfrm>
            <a:off x="9902309" y="1496497"/>
            <a:ext cx="151567" cy="189548"/>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Barlow Light" pitchFamily="34" charset="0"/>
                <a:ea typeface="Barlow Light" pitchFamily="34" charset="-122"/>
                <a:cs typeface="Barlow Light" pitchFamily="34" charset="-120"/>
              </a:rPr>
              <a:t>01</a:t>
            </a:r>
            <a:endParaRPr lang="en-US" sz="1150" dirty="0"/>
          </a:p>
        </p:txBody>
      </p:sp>
      <p:pic>
        <p:nvPicPr>
          <p:cNvPr id="5" name="Image 1" descr="preencoded.png"/>
          <p:cNvPicPr>
            <a:picLocks noChangeAspect="1"/>
          </p:cNvPicPr>
          <p:nvPr/>
        </p:nvPicPr>
        <p:blipFill>
          <a:blip r:embed="rId4"/>
          <a:stretch>
            <a:fillRect/>
          </a:stretch>
        </p:blipFill>
        <p:spPr>
          <a:xfrm>
            <a:off x="9902309" y="1738908"/>
            <a:ext cx="3969782" cy="15240"/>
          </a:xfrm>
          <a:prstGeom prst="rect">
            <a:avLst/>
          </a:prstGeom>
        </p:spPr>
      </p:pic>
      <p:sp>
        <p:nvSpPr>
          <p:cNvPr id="6" name="Text 2"/>
          <p:cNvSpPr/>
          <p:nvPr/>
        </p:nvSpPr>
        <p:spPr>
          <a:xfrm>
            <a:off x="9902309" y="1845112"/>
            <a:ext cx="3016806"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Segoe UI Semibold" panose="020B0702040204020203" pitchFamily="34" charset="0"/>
                <a:ea typeface="Barlow Bold" pitchFamily="34" charset="-122"/>
                <a:cs typeface="Segoe UI Semibold" panose="020B0702040204020203" pitchFamily="34" charset="0"/>
              </a:rPr>
              <a:t>Structured Information Extraction</a:t>
            </a:r>
            <a:endParaRPr lang="en-US" sz="1550" dirty="0"/>
          </a:p>
        </p:txBody>
      </p:sp>
      <p:sp>
        <p:nvSpPr>
          <p:cNvPr id="7" name="Text 3"/>
          <p:cNvSpPr/>
          <p:nvPr/>
        </p:nvSpPr>
        <p:spPr>
          <a:xfrm>
            <a:off x="9902309" y="2158246"/>
            <a:ext cx="3969782" cy="618649"/>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Automatically extract and organize metadata including title, authors, affiliations, keywords, and publication details from uploaded research papers</a:t>
            </a:r>
            <a:endParaRPr lang="en-US" sz="1150" dirty="0"/>
          </a:p>
        </p:txBody>
      </p:sp>
      <p:sp>
        <p:nvSpPr>
          <p:cNvPr id="8" name="Text 4"/>
          <p:cNvSpPr/>
          <p:nvPr/>
        </p:nvSpPr>
        <p:spPr>
          <a:xfrm>
            <a:off x="9902309" y="2996684"/>
            <a:ext cx="151567" cy="189548"/>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Barlow Light" pitchFamily="34" charset="0"/>
                <a:ea typeface="Barlow Light" pitchFamily="34" charset="-122"/>
                <a:cs typeface="Barlow Light" pitchFamily="34" charset="-120"/>
              </a:rPr>
              <a:t>02</a:t>
            </a:r>
            <a:endParaRPr lang="en-US" sz="1150" dirty="0"/>
          </a:p>
        </p:txBody>
      </p:sp>
      <p:pic>
        <p:nvPicPr>
          <p:cNvPr id="9" name="Image 2" descr="preencoded.png"/>
          <p:cNvPicPr>
            <a:picLocks noChangeAspect="1"/>
          </p:cNvPicPr>
          <p:nvPr/>
        </p:nvPicPr>
        <p:blipFill>
          <a:blip r:embed="rId4"/>
          <a:stretch>
            <a:fillRect/>
          </a:stretch>
        </p:blipFill>
        <p:spPr>
          <a:xfrm>
            <a:off x="9902309" y="3223974"/>
            <a:ext cx="3969782" cy="15240"/>
          </a:xfrm>
          <a:prstGeom prst="rect">
            <a:avLst/>
          </a:prstGeom>
        </p:spPr>
      </p:pic>
      <p:sp>
        <p:nvSpPr>
          <p:cNvPr id="10" name="Text 5"/>
          <p:cNvSpPr/>
          <p:nvPr/>
        </p:nvSpPr>
        <p:spPr>
          <a:xfrm>
            <a:off x="9902309" y="3345299"/>
            <a:ext cx="2547342"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Segoe UI Semibold" panose="020B0702040204020203" pitchFamily="34" charset="0"/>
                <a:ea typeface="Barlow Bold" pitchFamily="34" charset="-122"/>
                <a:cs typeface="Segoe UI Semibold" panose="020B0702040204020203" pitchFamily="34" charset="0"/>
              </a:rPr>
              <a:t>Section-wise Summarization</a:t>
            </a:r>
            <a:endParaRPr lang="en-US" sz="1550" dirty="0"/>
          </a:p>
        </p:txBody>
      </p:sp>
      <p:sp>
        <p:nvSpPr>
          <p:cNvPr id="11" name="Text 6"/>
          <p:cNvSpPr/>
          <p:nvPr/>
        </p:nvSpPr>
        <p:spPr>
          <a:xfrm>
            <a:off x="9902309" y="3658433"/>
            <a:ext cx="3969782" cy="618649"/>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Generate concise, accurate summaries for each major section of the paper including introduction, methodology, results, and conclusion</a:t>
            </a:r>
            <a:endParaRPr lang="en-US" sz="1150" dirty="0"/>
          </a:p>
        </p:txBody>
      </p:sp>
      <p:sp>
        <p:nvSpPr>
          <p:cNvPr id="12" name="Text 7"/>
          <p:cNvSpPr/>
          <p:nvPr/>
        </p:nvSpPr>
        <p:spPr>
          <a:xfrm>
            <a:off x="9902309" y="4496872"/>
            <a:ext cx="151567" cy="189548"/>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Barlow Light" pitchFamily="34" charset="0"/>
                <a:ea typeface="Barlow Light" pitchFamily="34" charset="-122"/>
                <a:cs typeface="Barlow Light" pitchFamily="34" charset="-120"/>
              </a:rPr>
              <a:t>03</a:t>
            </a:r>
            <a:endParaRPr lang="en-US" sz="1150" dirty="0"/>
          </a:p>
        </p:txBody>
      </p:sp>
      <p:pic>
        <p:nvPicPr>
          <p:cNvPr id="13" name="Image 3" descr="preencoded.png"/>
          <p:cNvPicPr>
            <a:picLocks noChangeAspect="1"/>
          </p:cNvPicPr>
          <p:nvPr/>
        </p:nvPicPr>
        <p:blipFill>
          <a:blip r:embed="rId4"/>
          <a:stretch>
            <a:fillRect/>
          </a:stretch>
        </p:blipFill>
        <p:spPr>
          <a:xfrm>
            <a:off x="9902309" y="4709041"/>
            <a:ext cx="3969782" cy="15240"/>
          </a:xfrm>
          <a:prstGeom prst="rect">
            <a:avLst/>
          </a:prstGeom>
        </p:spPr>
      </p:pic>
      <p:sp>
        <p:nvSpPr>
          <p:cNvPr id="14" name="Text 8"/>
          <p:cNvSpPr/>
          <p:nvPr/>
        </p:nvSpPr>
        <p:spPr>
          <a:xfrm>
            <a:off x="9902309" y="4845487"/>
            <a:ext cx="2071688"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Segoe UI Semibold" panose="020B0702040204020203" pitchFamily="34" charset="0"/>
                <a:ea typeface="Barlow Bold" pitchFamily="34" charset="-122"/>
                <a:cs typeface="Segoe UI Semibold" panose="020B0702040204020203" pitchFamily="34" charset="0"/>
              </a:rPr>
              <a:t>Key Insight Highlighting</a:t>
            </a:r>
            <a:endParaRPr lang="en-US" sz="1550" dirty="0"/>
          </a:p>
        </p:txBody>
      </p:sp>
      <p:sp>
        <p:nvSpPr>
          <p:cNvPr id="15" name="Text 9"/>
          <p:cNvSpPr/>
          <p:nvPr/>
        </p:nvSpPr>
        <p:spPr>
          <a:xfrm>
            <a:off x="9902309" y="5158621"/>
            <a:ext cx="3969782" cy="618649"/>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Identify and extract critical concepts, important definitions, mathematical equations, and novel contributions presented in the research</a:t>
            </a:r>
            <a:endParaRPr lang="en-US" sz="1150" dirty="0"/>
          </a:p>
        </p:txBody>
      </p:sp>
      <p:sp>
        <p:nvSpPr>
          <p:cNvPr id="16" name="Text 10"/>
          <p:cNvSpPr/>
          <p:nvPr/>
        </p:nvSpPr>
        <p:spPr>
          <a:xfrm>
            <a:off x="9902309" y="5997059"/>
            <a:ext cx="151567" cy="189548"/>
          </a:xfrm>
          <a:prstGeom prst="rect">
            <a:avLst/>
          </a:prstGeom>
          <a:noFill/>
          <a:ln/>
        </p:spPr>
        <p:txBody>
          <a:bodyPr wrap="none" lIns="0" tIns="0" rIns="0" bIns="0" rtlCol="0" anchor="t"/>
          <a:lstStyle/>
          <a:p>
            <a:pPr marL="0" indent="0" algn="l">
              <a:lnSpc>
                <a:spcPts val="1600"/>
              </a:lnSpc>
              <a:buNone/>
            </a:pPr>
            <a:r>
              <a:rPr lang="en-US" sz="1150" dirty="0">
                <a:solidFill>
                  <a:srgbClr val="384653"/>
                </a:solidFill>
                <a:latin typeface="Barlow Light" pitchFamily="34" charset="0"/>
                <a:ea typeface="Barlow Light" pitchFamily="34" charset="-122"/>
                <a:cs typeface="Barlow Light" pitchFamily="34" charset="-120"/>
              </a:rPr>
              <a:t>04</a:t>
            </a:r>
            <a:endParaRPr lang="en-US" sz="1150" dirty="0"/>
          </a:p>
        </p:txBody>
      </p:sp>
      <p:pic>
        <p:nvPicPr>
          <p:cNvPr id="17" name="Image 4" descr="preencoded.png"/>
          <p:cNvPicPr>
            <a:picLocks noChangeAspect="1"/>
          </p:cNvPicPr>
          <p:nvPr/>
        </p:nvPicPr>
        <p:blipFill>
          <a:blip r:embed="rId4"/>
          <a:stretch>
            <a:fillRect/>
          </a:stretch>
        </p:blipFill>
        <p:spPr>
          <a:xfrm>
            <a:off x="9902309" y="6194108"/>
            <a:ext cx="3969782" cy="15240"/>
          </a:xfrm>
          <a:prstGeom prst="rect">
            <a:avLst/>
          </a:prstGeom>
        </p:spPr>
      </p:pic>
      <p:sp>
        <p:nvSpPr>
          <p:cNvPr id="18" name="Text 11"/>
          <p:cNvSpPr/>
          <p:nvPr/>
        </p:nvSpPr>
        <p:spPr>
          <a:xfrm>
            <a:off x="9902309" y="6345674"/>
            <a:ext cx="1995487"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Segoe UI Semibold" panose="020B0702040204020203" pitchFamily="34" charset="0"/>
                <a:ea typeface="Barlow Bold" pitchFamily="34" charset="-122"/>
                <a:cs typeface="Segoe UI Semibold" panose="020B0702040204020203" pitchFamily="34" charset="0"/>
              </a:rPr>
              <a:t>Customizable Output</a:t>
            </a:r>
            <a:endParaRPr lang="en-US" sz="1550" dirty="0"/>
          </a:p>
        </p:txBody>
      </p:sp>
      <p:sp>
        <p:nvSpPr>
          <p:cNvPr id="19" name="Text 12"/>
          <p:cNvSpPr/>
          <p:nvPr/>
        </p:nvSpPr>
        <p:spPr>
          <a:xfrm>
            <a:off x="9902309" y="6658808"/>
            <a:ext cx="3969782" cy="618649"/>
          </a:xfrm>
          <a:prstGeom prst="rect">
            <a:avLst/>
          </a:prstGeom>
          <a:noFill/>
          <a:ln/>
        </p:spPr>
        <p:txBody>
          <a:bodyPr wrap="square" lIns="0" tIns="0" rIns="0" bIns="0" rtlCol="0" anchor="t"/>
          <a:lstStyle/>
          <a:p>
            <a:pPr marL="0" indent="0" algn="l">
              <a:lnSpc>
                <a:spcPts val="1600"/>
              </a:lnSpc>
              <a:buNone/>
            </a:pPr>
            <a:r>
              <a:rPr lang="en-US" sz="1150" dirty="0">
                <a:solidFill>
                  <a:srgbClr val="384653"/>
                </a:solidFill>
                <a:latin typeface="Montserrat" pitchFamily="34" charset="0"/>
                <a:ea typeface="Montserrat" pitchFamily="34" charset="-122"/>
                <a:cs typeface="Montserrat" pitchFamily="34" charset="-120"/>
              </a:rPr>
              <a:t>Provide users with flexible summary formats and detail levels based on their specific requirements and use cases</a:t>
            </a:r>
            <a:endParaRPr lang="en-US" sz="115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7709" y="644009"/>
            <a:ext cx="5075515" cy="438388"/>
          </a:xfrm>
          <a:prstGeom prst="rect">
            <a:avLst/>
          </a:prstGeom>
          <a:noFill/>
          <a:ln/>
        </p:spPr>
        <p:txBody>
          <a:bodyPr wrap="none" lIns="0" tIns="0" rIns="0" bIns="0" rtlCol="0" anchor="t"/>
          <a:lstStyle/>
          <a:p>
            <a:pPr marL="0" indent="0" algn="l">
              <a:lnSpc>
                <a:spcPts val="3450"/>
              </a:lnSpc>
              <a:buNone/>
            </a:pPr>
            <a:r>
              <a:rPr lang="en-US" sz="2750" b="1" dirty="0">
                <a:solidFill>
                  <a:srgbClr val="2E3C4E"/>
                </a:solidFill>
                <a:latin typeface="Segoe UI Semibold" panose="020B0702040204020203" pitchFamily="34" charset="0"/>
                <a:ea typeface="Barlow Bold" pitchFamily="34" charset="-122"/>
                <a:cs typeface="Segoe UI Semibold" panose="020B0702040204020203" pitchFamily="34" charset="0"/>
              </a:rPr>
              <a:t>Main Features of ResearchXtract</a:t>
            </a:r>
            <a:endParaRPr lang="en-US" sz="2750" dirty="0"/>
          </a:p>
        </p:txBody>
      </p:sp>
      <p:sp>
        <p:nvSpPr>
          <p:cNvPr id="3" name="Shape 1"/>
          <p:cNvSpPr/>
          <p:nvPr/>
        </p:nvSpPr>
        <p:spPr>
          <a:xfrm>
            <a:off x="717709" y="1246346"/>
            <a:ext cx="299918" cy="299918"/>
          </a:xfrm>
          <a:prstGeom prst="roundRect">
            <a:avLst>
              <a:gd name="adj" fmla="val 66669"/>
            </a:avLst>
          </a:prstGeom>
          <a:solidFill>
            <a:srgbClr val="D4E9F7"/>
          </a:solidFill>
          <a:ln w="7620">
            <a:solidFill>
              <a:srgbClr val="BACFDD"/>
            </a:solidFill>
            <a:prstDash val="solid"/>
          </a:ln>
        </p:spPr>
      </p:sp>
      <p:sp>
        <p:nvSpPr>
          <p:cNvPr id="4" name="Text 2"/>
          <p:cNvSpPr/>
          <p:nvPr/>
        </p:nvSpPr>
        <p:spPr>
          <a:xfrm>
            <a:off x="1099542" y="1292066"/>
            <a:ext cx="1800820"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Research Paper Upload</a:t>
            </a:r>
            <a:endParaRPr lang="en-US" sz="1350" dirty="0"/>
          </a:p>
        </p:txBody>
      </p:sp>
      <p:sp>
        <p:nvSpPr>
          <p:cNvPr id="5" name="Text 3"/>
          <p:cNvSpPr/>
          <p:nvPr/>
        </p:nvSpPr>
        <p:spPr>
          <a:xfrm>
            <a:off x="1099542" y="1560433"/>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Supports PDF documents up to 25 pages for analysis.</a:t>
            </a:r>
            <a:endParaRPr lang="en-US" sz="1000" dirty="0"/>
          </a:p>
        </p:txBody>
      </p:sp>
      <p:sp>
        <p:nvSpPr>
          <p:cNvPr id="6" name="Shape 4"/>
          <p:cNvSpPr/>
          <p:nvPr/>
        </p:nvSpPr>
        <p:spPr>
          <a:xfrm>
            <a:off x="717709" y="1896666"/>
            <a:ext cx="299918" cy="299918"/>
          </a:xfrm>
          <a:prstGeom prst="roundRect">
            <a:avLst>
              <a:gd name="adj" fmla="val 66669"/>
            </a:avLst>
          </a:prstGeom>
          <a:solidFill>
            <a:srgbClr val="D4E9F7"/>
          </a:solidFill>
          <a:ln w="7620">
            <a:solidFill>
              <a:srgbClr val="BACFDD"/>
            </a:solidFill>
            <a:prstDash val="solid"/>
          </a:ln>
        </p:spPr>
      </p:sp>
      <p:sp>
        <p:nvSpPr>
          <p:cNvPr id="7" name="Text 5"/>
          <p:cNvSpPr/>
          <p:nvPr/>
        </p:nvSpPr>
        <p:spPr>
          <a:xfrm>
            <a:off x="1099542" y="1942386"/>
            <a:ext cx="1753910"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Metadata Extraction</a:t>
            </a:r>
            <a:endParaRPr lang="en-US" sz="1350" dirty="0"/>
          </a:p>
        </p:txBody>
      </p:sp>
      <p:sp>
        <p:nvSpPr>
          <p:cNvPr id="8" name="Text 6"/>
          <p:cNvSpPr/>
          <p:nvPr/>
        </p:nvSpPr>
        <p:spPr>
          <a:xfrm>
            <a:off x="1099542" y="2210753"/>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Automatically identifies and extracts critical information like title, authors, and publication year.</a:t>
            </a:r>
            <a:endParaRPr lang="en-US" sz="1000" dirty="0"/>
          </a:p>
        </p:txBody>
      </p:sp>
      <p:sp>
        <p:nvSpPr>
          <p:cNvPr id="9" name="Shape 7"/>
          <p:cNvSpPr/>
          <p:nvPr/>
        </p:nvSpPr>
        <p:spPr>
          <a:xfrm>
            <a:off x="717709" y="2546985"/>
            <a:ext cx="299918" cy="299918"/>
          </a:xfrm>
          <a:prstGeom prst="roundRect">
            <a:avLst>
              <a:gd name="adj" fmla="val 66669"/>
            </a:avLst>
          </a:prstGeom>
          <a:solidFill>
            <a:srgbClr val="D4E9F7"/>
          </a:solidFill>
          <a:ln w="7620">
            <a:solidFill>
              <a:srgbClr val="BACFDD"/>
            </a:solidFill>
            <a:prstDash val="solid"/>
          </a:ln>
        </p:spPr>
      </p:sp>
      <p:sp>
        <p:nvSpPr>
          <p:cNvPr id="10" name="Text 8"/>
          <p:cNvSpPr/>
          <p:nvPr/>
        </p:nvSpPr>
        <p:spPr>
          <a:xfrm>
            <a:off x="1099542" y="2592705"/>
            <a:ext cx="1753910"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Section Detection</a:t>
            </a:r>
            <a:endParaRPr lang="en-US" sz="1350" dirty="0"/>
          </a:p>
        </p:txBody>
      </p:sp>
      <p:sp>
        <p:nvSpPr>
          <p:cNvPr id="11" name="Text 9"/>
          <p:cNvSpPr/>
          <p:nvPr/>
        </p:nvSpPr>
        <p:spPr>
          <a:xfrm>
            <a:off x="1099542" y="2861072"/>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Intelligently recognizes table of contents and logical sections within papers.</a:t>
            </a:r>
            <a:endParaRPr lang="en-US" sz="1000" dirty="0"/>
          </a:p>
        </p:txBody>
      </p:sp>
      <p:sp>
        <p:nvSpPr>
          <p:cNvPr id="12" name="Shape 10"/>
          <p:cNvSpPr/>
          <p:nvPr/>
        </p:nvSpPr>
        <p:spPr>
          <a:xfrm>
            <a:off x="717709" y="3197304"/>
            <a:ext cx="299918" cy="299918"/>
          </a:xfrm>
          <a:prstGeom prst="roundRect">
            <a:avLst>
              <a:gd name="adj" fmla="val 66669"/>
            </a:avLst>
          </a:prstGeom>
          <a:solidFill>
            <a:srgbClr val="D4E9F7"/>
          </a:solidFill>
          <a:ln w="7620">
            <a:solidFill>
              <a:srgbClr val="BACFDD"/>
            </a:solidFill>
            <a:prstDash val="solid"/>
          </a:ln>
        </p:spPr>
      </p:sp>
      <p:sp>
        <p:nvSpPr>
          <p:cNvPr id="13" name="Text 11"/>
          <p:cNvSpPr/>
          <p:nvPr/>
        </p:nvSpPr>
        <p:spPr>
          <a:xfrm>
            <a:off x="1099542" y="3243024"/>
            <a:ext cx="2238613"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Section-wise Summarization</a:t>
            </a:r>
            <a:endParaRPr lang="en-US" sz="1350" dirty="0"/>
          </a:p>
        </p:txBody>
      </p:sp>
      <p:sp>
        <p:nvSpPr>
          <p:cNvPr id="14" name="Text 12"/>
          <p:cNvSpPr/>
          <p:nvPr/>
        </p:nvSpPr>
        <p:spPr>
          <a:xfrm>
            <a:off x="1099542" y="3511391"/>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Generates concise summaries for each major section, such as Introduction, Methodology, and Conclusion.</a:t>
            </a:r>
            <a:endParaRPr lang="en-US" sz="1000" dirty="0"/>
          </a:p>
        </p:txBody>
      </p:sp>
      <p:sp>
        <p:nvSpPr>
          <p:cNvPr id="15" name="Shape 13"/>
          <p:cNvSpPr/>
          <p:nvPr/>
        </p:nvSpPr>
        <p:spPr>
          <a:xfrm>
            <a:off x="717709" y="3847624"/>
            <a:ext cx="299918" cy="299918"/>
          </a:xfrm>
          <a:prstGeom prst="roundRect">
            <a:avLst>
              <a:gd name="adj" fmla="val 66669"/>
            </a:avLst>
          </a:prstGeom>
          <a:solidFill>
            <a:srgbClr val="D4E9F7"/>
          </a:solidFill>
          <a:ln w="7620">
            <a:solidFill>
              <a:srgbClr val="BACFDD"/>
            </a:solidFill>
            <a:prstDash val="solid"/>
          </a:ln>
        </p:spPr>
      </p:sp>
      <p:sp>
        <p:nvSpPr>
          <p:cNvPr id="16" name="Text 14"/>
          <p:cNvSpPr/>
          <p:nvPr/>
        </p:nvSpPr>
        <p:spPr>
          <a:xfrm>
            <a:off x="1099542" y="3893344"/>
            <a:ext cx="1755458"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Key Point Preservation</a:t>
            </a:r>
            <a:endParaRPr lang="en-US" sz="1350" dirty="0"/>
          </a:p>
        </p:txBody>
      </p:sp>
      <p:sp>
        <p:nvSpPr>
          <p:cNvPr id="17" name="Text 15"/>
          <p:cNvSpPr/>
          <p:nvPr/>
        </p:nvSpPr>
        <p:spPr>
          <a:xfrm>
            <a:off x="1099542" y="4161711"/>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Ensures important lists and key takeaways are accurately captured and presented.</a:t>
            </a:r>
            <a:endParaRPr lang="en-US" sz="1000" dirty="0"/>
          </a:p>
        </p:txBody>
      </p:sp>
      <p:sp>
        <p:nvSpPr>
          <p:cNvPr id="18" name="Shape 16"/>
          <p:cNvSpPr/>
          <p:nvPr/>
        </p:nvSpPr>
        <p:spPr>
          <a:xfrm>
            <a:off x="717709" y="4497943"/>
            <a:ext cx="299918" cy="299918"/>
          </a:xfrm>
          <a:prstGeom prst="roundRect">
            <a:avLst>
              <a:gd name="adj" fmla="val 66669"/>
            </a:avLst>
          </a:prstGeom>
          <a:solidFill>
            <a:srgbClr val="D4E9F7"/>
          </a:solidFill>
          <a:ln w="7620">
            <a:solidFill>
              <a:srgbClr val="BACFDD"/>
            </a:solidFill>
            <a:prstDash val="solid"/>
          </a:ln>
        </p:spPr>
      </p:sp>
      <p:sp>
        <p:nvSpPr>
          <p:cNvPr id="19" name="Text 17"/>
          <p:cNvSpPr/>
          <p:nvPr/>
        </p:nvSpPr>
        <p:spPr>
          <a:xfrm>
            <a:off x="1099542" y="4543663"/>
            <a:ext cx="2379345"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Keyword &amp; Concept Extraction</a:t>
            </a:r>
            <a:endParaRPr lang="en-US" sz="1350" dirty="0"/>
          </a:p>
        </p:txBody>
      </p:sp>
      <p:sp>
        <p:nvSpPr>
          <p:cNvPr id="20" name="Text 18"/>
          <p:cNvSpPr/>
          <p:nvPr/>
        </p:nvSpPr>
        <p:spPr>
          <a:xfrm>
            <a:off x="1099542" y="4812030"/>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Identifies and lists primary keywords and central concepts discussed in the paper.</a:t>
            </a:r>
            <a:endParaRPr lang="en-US" sz="1000" dirty="0"/>
          </a:p>
        </p:txBody>
      </p:sp>
      <p:sp>
        <p:nvSpPr>
          <p:cNvPr id="21" name="Shape 19"/>
          <p:cNvSpPr/>
          <p:nvPr/>
        </p:nvSpPr>
        <p:spPr>
          <a:xfrm>
            <a:off x="717709" y="5148263"/>
            <a:ext cx="299918" cy="299918"/>
          </a:xfrm>
          <a:prstGeom prst="roundRect">
            <a:avLst>
              <a:gd name="adj" fmla="val 66669"/>
            </a:avLst>
          </a:prstGeom>
          <a:solidFill>
            <a:srgbClr val="D4E9F7"/>
          </a:solidFill>
          <a:ln w="7620">
            <a:solidFill>
              <a:srgbClr val="BACFDD"/>
            </a:solidFill>
            <a:prstDash val="solid"/>
          </a:ln>
        </p:spPr>
      </p:sp>
      <p:sp>
        <p:nvSpPr>
          <p:cNvPr id="22" name="Text 20"/>
          <p:cNvSpPr/>
          <p:nvPr/>
        </p:nvSpPr>
        <p:spPr>
          <a:xfrm>
            <a:off x="1099542" y="5193983"/>
            <a:ext cx="1753910"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Definition Highlighting</a:t>
            </a:r>
            <a:endParaRPr lang="en-US" sz="1350" dirty="0"/>
          </a:p>
        </p:txBody>
      </p:sp>
      <p:sp>
        <p:nvSpPr>
          <p:cNvPr id="23" name="Text 21"/>
          <p:cNvSpPr/>
          <p:nvPr/>
        </p:nvSpPr>
        <p:spPr>
          <a:xfrm>
            <a:off x="1099542" y="5462349"/>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Automatically highlights and extracts important definitions and key terms.</a:t>
            </a:r>
            <a:endParaRPr lang="en-US" sz="1000" dirty="0"/>
          </a:p>
        </p:txBody>
      </p:sp>
      <p:sp>
        <p:nvSpPr>
          <p:cNvPr id="24" name="Shape 22"/>
          <p:cNvSpPr/>
          <p:nvPr/>
        </p:nvSpPr>
        <p:spPr>
          <a:xfrm>
            <a:off x="717709" y="5798582"/>
            <a:ext cx="299918" cy="299918"/>
          </a:xfrm>
          <a:prstGeom prst="roundRect">
            <a:avLst>
              <a:gd name="adj" fmla="val 66669"/>
            </a:avLst>
          </a:prstGeom>
          <a:solidFill>
            <a:srgbClr val="D4E9F7"/>
          </a:solidFill>
          <a:ln w="7620">
            <a:solidFill>
              <a:srgbClr val="BACFDD"/>
            </a:solidFill>
            <a:prstDash val="solid"/>
          </a:ln>
        </p:spPr>
      </p:sp>
      <p:sp>
        <p:nvSpPr>
          <p:cNvPr id="25" name="Text 23"/>
          <p:cNvSpPr/>
          <p:nvPr/>
        </p:nvSpPr>
        <p:spPr>
          <a:xfrm>
            <a:off x="1099542" y="5844302"/>
            <a:ext cx="2634972"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Mathematical Equation Extraction</a:t>
            </a:r>
            <a:endParaRPr lang="en-US" sz="1350" dirty="0"/>
          </a:p>
        </p:txBody>
      </p:sp>
      <p:sp>
        <p:nvSpPr>
          <p:cNvPr id="26" name="Text 24"/>
          <p:cNvSpPr/>
          <p:nvPr/>
        </p:nvSpPr>
        <p:spPr>
          <a:xfrm>
            <a:off x="1099542" y="6112669"/>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Extracts basic mathematical equations for quick reference.</a:t>
            </a:r>
            <a:endParaRPr lang="en-US" sz="1000" dirty="0"/>
          </a:p>
        </p:txBody>
      </p:sp>
      <p:sp>
        <p:nvSpPr>
          <p:cNvPr id="27" name="Shape 25"/>
          <p:cNvSpPr/>
          <p:nvPr/>
        </p:nvSpPr>
        <p:spPr>
          <a:xfrm>
            <a:off x="717709" y="6448901"/>
            <a:ext cx="299918" cy="299918"/>
          </a:xfrm>
          <a:prstGeom prst="roundRect">
            <a:avLst>
              <a:gd name="adj" fmla="val 66669"/>
            </a:avLst>
          </a:prstGeom>
          <a:solidFill>
            <a:srgbClr val="D4E9F7"/>
          </a:solidFill>
          <a:ln w="7620">
            <a:solidFill>
              <a:srgbClr val="BACFDD"/>
            </a:solidFill>
            <a:prstDash val="solid"/>
          </a:ln>
        </p:spPr>
      </p:sp>
      <p:sp>
        <p:nvSpPr>
          <p:cNvPr id="28" name="Text 26"/>
          <p:cNvSpPr/>
          <p:nvPr/>
        </p:nvSpPr>
        <p:spPr>
          <a:xfrm>
            <a:off x="1099542" y="6494621"/>
            <a:ext cx="2095500"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Table-to-Graph Conversion</a:t>
            </a:r>
            <a:endParaRPr lang="en-US" sz="1350" dirty="0"/>
          </a:p>
        </p:txBody>
      </p:sp>
      <p:sp>
        <p:nvSpPr>
          <p:cNvPr id="29" name="Text 27"/>
          <p:cNvSpPr/>
          <p:nvPr/>
        </p:nvSpPr>
        <p:spPr>
          <a:xfrm>
            <a:off x="1099542" y="6762988"/>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Converts tabular data into visual graphs where applicable, enhancing data interpretation.</a:t>
            </a:r>
            <a:endParaRPr lang="en-US" sz="1000" dirty="0"/>
          </a:p>
        </p:txBody>
      </p:sp>
      <p:sp>
        <p:nvSpPr>
          <p:cNvPr id="30" name="Shape 28"/>
          <p:cNvSpPr/>
          <p:nvPr/>
        </p:nvSpPr>
        <p:spPr>
          <a:xfrm>
            <a:off x="717709" y="7099221"/>
            <a:ext cx="299918" cy="299918"/>
          </a:xfrm>
          <a:prstGeom prst="roundRect">
            <a:avLst>
              <a:gd name="adj" fmla="val 66669"/>
            </a:avLst>
          </a:prstGeom>
          <a:solidFill>
            <a:srgbClr val="D4E9F7"/>
          </a:solidFill>
          <a:ln w="7620">
            <a:solidFill>
              <a:srgbClr val="BACFDD"/>
            </a:solidFill>
            <a:prstDash val="solid"/>
          </a:ln>
        </p:spPr>
      </p:sp>
      <p:sp>
        <p:nvSpPr>
          <p:cNvPr id="31" name="Text 29"/>
          <p:cNvSpPr/>
          <p:nvPr/>
        </p:nvSpPr>
        <p:spPr>
          <a:xfrm>
            <a:off x="1099542" y="7144941"/>
            <a:ext cx="2395299" cy="219194"/>
          </a:xfrm>
          <a:prstGeom prst="rect">
            <a:avLst/>
          </a:prstGeom>
          <a:noFill/>
          <a:ln/>
        </p:spPr>
        <p:txBody>
          <a:bodyPr wrap="none" lIns="0" tIns="0" rIns="0" bIns="0" rtlCol="0" anchor="t"/>
          <a:lstStyle/>
          <a:p>
            <a:pPr marL="0" indent="0" algn="l">
              <a:lnSpc>
                <a:spcPts val="1700"/>
              </a:lnSpc>
              <a:buNone/>
            </a:pPr>
            <a:r>
              <a:rPr lang="en-US" sz="1350" b="1" dirty="0">
                <a:solidFill>
                  <a:srgbClr val="384653"/>
                </a:solidFill>
                <a:latin typeface="Segoe UI Semibold" panose="020B0702040204020203" pitchFamily="34" charset="0"/>
                <a:ea typeface="Barlow Bold" pitchFamily="34" charset="-122"/>
                <a:cs typeface="Segoe UI Semibold" panose="020B0702040204020203" pitchFamily="34" charset="0"/>
              </a:rPr>
              <a:t>Customizable Summary Export</a:t>
            </a:r>
            <a:endParaRPr lang="en-US" sz="1350" dirty="0"/>
          </a:p>
        </p:txBody>
      </p:sp>
      <p:sp>
        <p:nvSpPr>
          <p:cNvPr id="32" name="Text 30"/>
          <p:cNvSpPr/>
          <p:nvPr/>
        </p:nvSpPr>
        <p:spPr>
          <a:xfrm>
            <a:off x="1099542" y="7413308"/>
            <a:ext cx="12813149" cy="172283"/>
          </a:xfrm>
          <a:prstGeom prst="rect">
            <a:avLst/>
          </a:prstGeom>
          <a:noFill/>
          <a:ln/>
        </p:spPr>
        <p:txBody>
          <a:bodyPr wrap="none" lIns="0" tIns="0" rIns="0" bIns="0" rtlCol="0" anchor="t"/>
          <a:lstStyle/>
          <a:p>
            <a:pPr marL="0" indent="0" algn="l">
              <a:lnSpc>
                <a:spcPts val="1350"/>
              </a:lnSpc>
              <a:buNone/>
            </a:pPr>
            <a:r>
              <a:rPr lang="en-US" sz="1000" dirty="0">
                <a:solidFill>
                  <a:srgbClr val="384653"/>
                </a:solidFill>
                <a:latin typeface="Montserrat" pitchFamily="34" charset="0"/>
                <a:ea typeface="Montserrat" pitchFamily="34" charset="-122"/>
                <a:cs typeface="Montserrat" pitchFamily="34" charset="-120"/>
              </a:rPr>
              <a:t>Allows users to export structured summaries in various formats, including PDF and PPT.</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933926"/>
            <a:ext cx="8496895"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Segoe UI Semibold" panose="020B0702040204020203" pitchFamily="34" charset="0"/>
                <a:ea typeface="Barlow Bold" pitchFamily="34" charset="-122"/>
                <a:cs typeface="Segoe UI Semibold" panose="020B0702040204020203" pitchFamily="34" charset="0"/>
              </a:rPr>
              <a:t>Literature Survey &amp; Research Gap</a:t>
            </a:r>
            <a:endParaRPr lang="en-US" sz="4450" dirty="0"/>
          </a:p>
        </p:txBody>
      </p:sp>
      <p:sp>
        <p:nvSpPr>
          <p:cNvPr id="3" name="Text 1"/>
          <p:cNvSpPr/>
          <p:nvPr/>
        </p:nvSpPr>
        <p:spPr>
          <a:xfrm>
            <a:off x="758309" y="2188131"/>
            <a:ext cx="3420904" cy="427553"/>
          </a:xfrm>
          <a:prstGeom prst="rect">
            <a:avLst/>
          </a:prstGeom>
          <a:noFill/>
          <a:ln/>
        </p:spPr>
        <p:txBody>
          <a:bodyPr wrap="none" lIns="0" tIns="0" rIns="0" bIns="0" rtlCol="0" anchor="t"/>
          <a:lstStyle/>
          <a:p>
            <a:pPr marL="0" indent="0" algn="l">
              <a:lnSpc>
                <a:spcPts val="3350"/>
              </a:lnSpc>
              <a:buNone/>
            </a:pPr>
            <a:r>
              <a:rPr lang="en-US" sz="2650" b="1" dirty="0">
                <a:solidFill>
                  <a:srgbClr val="2E3C4E"/>
                </a:solidFill>
                <a:latin typeface="Segoe UI Semibold" panose="020B0702040204020203" pitchFamily="34" charset="0"/>
                <a:ea typeface="Barlow Bold" pitchFamily="34" charset="-122"/>
                <a:cs typeface="Segoe UI Semibold" panose="020B0702040204020203" pitchFamily="34" charset="0"/>
              </a:rPr>
              <a:t>Existing Approaches</a:t>
            </a:r>
            <a:endParaRPr lang="en-US" sz="2650" dirty="0"/>
          </a:p>
        </p:txBody>
      </p:sp>
      <p:sp>
        <p:nvSpPr>
          <p:cNvPr id="4" name="Text 2"/>
          <p:cNvSpPr/>
          <p:nvPr/>
        </p:nvSpPr>
        <p:spPr>
          <a:xfrm>
            <a:off x="758309" y="2832259"/>
            <a:ext cx="6292572" cy="4159916"/>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384653"/>
                </a:solidFill>
                <a:latin typeface="Montserrat" pitchFamily="34" charset="0"/>
                <a:ea typeface="Montserrat" pitchFamily="34" charset="-122"/>
                <a:cs typeface="Montserrat" pitchFamily="34" charset="-120"/>
              </a:rPr>
              <a:t>General Text Summarizers:</a:t>
            </a:r>
            <a:r>
              <a:rPr lang="en-US" sz="1700" dirty="0">
                <a:solidFill>
                  <a:srgbClr val="384653"/>
                </a:solidFill>
                <a:latin typeface="Montserrat" pitchFamily="34" charset="0"/>
                <a:ea typeface="Montserrat" pitchFamily="34" charset="-122"/>
                <a:cs typeface="Montserrat" pitchFamily="34" charset="-120"/>
              </a:rPr>
              <a:t> Tools like TLDR and SummarizeBot provide basic summarization but lack academic paper structure awareness</a:t>
            </a:r>
            <a:endParaRPr lang="en-US" sz="1700" dirty="0"/>
          </a:p>
          <a:p>
            <a:pPr marL="342900" indent="-342900" algn="l">
              <a:lnSpc>
                <a:spcPts val="2700"/>
              </a:lnSpc>
              <a:buSzPct val="100000"/>
              <a:buChar char="•"/>
            </a:pPr>
            <a:r>
              <a:rPr lang="en-US" sz="1700" b="1" dirty="0">
                <a:solidFill>
                  <a:srgbClr val="384653"/>
                </a:solidFill>
                <a:latin typeface="Montserrat" pitchFamily="34" charset="0"/>
                <a:ea typeface="Montserrat" pitchFamily="34" charset="-122"/>
                <a:cs typeface="Montserrat" pitchFamily="34" charset="-120"/>
              </a:rPr>
              <a:t>Citation-based Systems:</a:t>
            </a:r>
            <a:r>
              <a:rPr lang="en-US" sz="1700" dirty="0">
                <a:solidFill>
                  <a:srgbClr val="384653"/>
                </a:solidFill>
                <a:latin typeface="Montserrat" pitchFamily="34" charset="0"/>
                <a:ea typeface="Montserrat" pitchFamily="34" charset="-122"/>
                <a:cs typeface="Montserrat" pitchFamily="34" charset="-120"/>
              </a:rPr>
              <a:t> Platforms such as Semantic Scholar offer paper overviews but do not perform detailed content analysis</a:t>
            </a:r>
            <a:endParaRPr lang="en-US" sz="1700" dirty="0"/>
          </a:p>
          <a:p>
            <a:pPr marL="342900" indent="-342900" algn="l">
              <a:lnSpc>
                <a:spcPts val="2700"/>
              </a:lnSpc>
              <a:buSzPct val="100000"/>
              <a:buChar char="•"/>
            </a:pPr>
            <a:r>
              <a:rPr lang="en-US" sz="1700" b="1" dirty="0">
                <a:solidFill>
                  <a:srgbClr val="384653"/>
                </a:solidFill>
                <a:latin typeface="Montserrat" pitchFamily="34" charset="0"/>
                <a:ea typeface="Montserrat" pitchFamily="34" charset="-122"/>
                <a:cs typeface="Montserrat" pitchFamily="34" charset="-120"/>
              </a:rPr>
              <a:t>Extractive Methods:</a:t>
            </a:r>
            <a:r>
              <a:rPr lang="en-US" sz="1700" dirty="0">
                <a:solidFill>
                  <a:srgbClr val="384653"/>
                </a:solidFill>
                <a:latin typeface="Montserrat" pitchFamily="34" charset="0"/>
                <a:ea typeface="Montserrat" pitchFamily="34" charset="-122"/>
                <a:cs typeface="Montserrat" pitchFamily="34" charset="-120"/>
              </a:rPr>
              <a:t> Traditional approaches select important sentences without understanding context or maintaining coherence</a:t>
            </a:r>
            <a:endParaRPr lang="en-US" sz="1700" dirty="0"/>
          </a:p>
          <a:p>
            <a:pPr marL="342900" indent="-342900" algn="l">
              <a:lnSpc>
                <a:spcPts val="2700"/>
              </a:lnSpc>
              <a:buSzPct val="100000"/>
              <a:buChar char="•"/>
            </a:pPr>
            <a:r>
              <a:rPr lang="en-US" sz="1700" b="1" dirty="0">
                <a:solidFill>
                  <a:srgbClr val="384653"/>
                </a:solidFill>
                <a:latin typeface="Montserrat" pitchFamily="34" charset="0"/>
                <a:ea typeface="Montserrat" pitchFamily="34" charset="-122"/>
                <a:cs typeface="Montserrat" pitchFamily="34" charset="-120"/>
              </a:rPr>
              <a:t>Generic AI Models:</a:t>
            </a:r>
            <a:r>
              <a:rPr lang="en-US" sz="1700" dirty="0">
                <a:solidFill>
                  <a:srgbClr val="384653"/>
                </a:solidFill>
                <a:latin typeface="Montserrat" pitchFamily="34" charset="0"/>
                <a:ea typeface="Montserrat" pitchFamily="34" charset="-122"/>
                <a:cs typeface="Montserrat" pitchFamily="34" charset="-120"/>
              </a:rPr>
              <a:t> Large language models provide summaries but are not fine-tuned for academic research format and terminology</a:t>
            </a:r>
            <a:endParaRPr lang="en-US" sz="1700" dirty="0"/>
          </a:p>
        </p:txBody>
      </p:sp>
      <p:sp>
        <p:nvSpPr>
          <p:cNvPr id="5" name="Shape 3"/>
          <p:cNvSpPr/>
          <p:nvPr/>
        </p:nvSpPr>
        <p:spPr>
          <a:xfrm>
            <a:off x="7431048" y="1971556"/>
            <a:ext cx="6604754" cy="5324118"/>
          </a:xfrm>
          <a:prstGeom prst="roundRect">
            <a:avLst>
              <a:gd name="adj" fmla="val 9767"/>
            </a:avLst>
          </a:prstGeom>
          <a:solidFill>
            <a:srgbClr val="E5F6FF"/>
          </a:solidFill>
          <a:ln/>
        </p:spPr>
      </p:sp>
      <p:sp>
        <p:nvSpPr>
          <p:cNvPr id="6" name="Text 4"/>
          <p:cNvSpPr/>
          <p:nvPr/>
        </p:nvSpPr>
        <p:spPr>
          <a:xfrm>
            <a:off x="7647623" y="2188131"/>
            <a:ext cx="6036112" cy="427553"/>
          </a:xfrm>
          <a:prstGeom prst="rect">
            <a:avLst/>
          </a:prstGeom>
          <a:noFill/>
          <a:ln/>
        </p:spPr>
        <p:txBody>
          <a:bodyPr wrap="none" lIns="0" tIns="0" rIns="0" bIns="0" rtlCol="0" anchor="t"/>
          <a:lstStyle/>
          <a:p>
            <a:pPr marL="0" indent="0" algn="l">
              <a:lnSpc>
                <a:spcPts val="3350"/>
              </a:lnSpc>
              <a:buNone/>
            </a:pPr>
            <a:r>
              <a:rPr lang="en-US" sz="2650" b="1" dirty="0">
                <a:solidFill>
                  <a:srgbClr val="2E3C4E"/>
                </a:solidFill>
                <a:latin typeface="Segoe UI Semibold" panose="020B0702040204020203" pitchFamily="34" charset="0"/>
                <a:ea typeface="Barlow Bold" pitchFamily="34" charset="-122"/>
                <a:cs typeface="Segoe UI Semibold" panose="020B0702040204020203" pitchFamily="34" charset="0"/>
              </a:rPr>
              <a:t>How ResearchXtract Addresses the Gap</a:t>
            </a:r>
            <a:endParaRPr lang="en-US" sz="2650" dirty="0"/>
          </a:p>
        </p:txBody>
      </p:sp>
      <p:sp>
        <p:nvSpPr>
          <p:cNvPr id="7" name="Text 5"/>
          <p:cNvSpPr/>
          <p:nvPr/>
        </p:nvSpPr>
        <p:spPr>
          <a:xfrm>
            <a:off x="7647623" y="2832259"/>
            <a:ext cx="6171605" cy="2773278"/>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Recognizes and preserves academic paper structure during analysis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Performs deep content understanding using domain-aware NLP models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Extracts technical elements like equations and definitions accurately</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Generates structured, section-wise summaries tailored for academic use</a:t>
            </a:r>
            <a:endParaRPr lang="en-US" sz="17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678775"/>
            <a:ext cx="6263759" cy="641390"/>
          </a:xfrm>
          <a:prstGeom prst="rect">
            <a:avLst/>
          </a:prstGeom>
          <a:noFill/>
          <a:ln/>
        </p:spPr>
        <p:txBody>
          <a:bodyPr wrap="none" lIns="0" tIns="0" rIns="0" bIns="0" rtlCol="0" anchor="t"/>
          <a:lstStyle/>
          <a:p>
            <a:pPr marL="0" indent="0" algn="l">
              <a:lnSpc>
                <a:spcPts val="5050"/>
              </a:lnSpc>
              <a:buNone/>
            </a:pPr>
            <a:r>
              <a:rPr lang="en-US" sz="4000" b="1" dirty="0">
                <a:solidFill>
                  <a:srgbClr val="2E3C4E"/>
                </a:solidFill>
                <a:latin typeface="Segoe UI Semibold" panose="020B0702040204020203" pitchFamily="34" charset="0"/>
                <a:ea typeface="Barlow Bold" pitchFamily="34" charset="-122"/>
                <a:cs typeface="Segoe UI Semibold" panose="020B0702040204020203" pitchFamily="34" charset="0"/>
              </a:rPr>
              <a:t>Proposed System Workflow</a:t>
            </a:r>
            <a:endParaRPr lang="en-US" sz="4000" dirty="0"/>
          </a:p>
        </p:txBody>
      </p:sp>
      <p:pic>
        <p:nvPicPr>
          <p:cNvPr id="3" name="Image 0" descr="preencoded.png"/>
          <p:cNvPicPr>
            <a:picLocks noChangeAspect="1"/>
          </p:cNvPicPr>
          <p:nvPr/>
        </p:nvPicPr>
        <p:blipFill>
          <a:blip r:embed="rId3"/>
          <a:stretch>
            <a:fillRect/>
          </a:stretch>
        </p:blipFill>
        <p:spPr>
          <a:xfrm>
            <a:off x="2726055" y="1671042"/>
            <a:ext cx="9178171" cy="4200525"/>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79561" y="2719801"/>
            <a:ext cx="590111" cy="590111"/>
          </a:xfrm>
          <a:prstGeom prst="rect">
            <a:avLst/>
          </a:prstGeom>
        </p:spPr>
      </p:pic>
      <p:sp>
        <p:nvSpPr>
          <p:cNvPr id="5" name="Text 1"/>
          <p:cNvSpPr/>
          <p:nvPr/>
        </p:nvSpPr>
        <p:spPr>
          <a:xfrm>
            <a:off x="9753809" y="4690587"/>
            <a:ext cx="1723125" cy="698913"/>
          </a:xfrm>
          <a:prstGeom prst="rect">
            <a:avLst/>
          </a:prstGeom>
          <a:noFill/>
          <a:ln/>
        </p:spPr>
        <p:txBody>
          <a:bodyPr wrap="square" lIns="0" tIns="0" rIns="0" bIns="0" rtlCol="0" anchor="t"/>
          <a:lstStyle/>
          <a:p>
            <a:pPr marL="0" indent="0" algn="ctr">
              <a:lnSpc>
                <a:spcPts val="1750"/>
              </a:lnSpc>
              <a:buNone/>
            </a:pPr>
            <a:r>
              <a:rPr lang="en-US" sz="1400" b="1" dirty="0">
                <a:solidFill>
                  <a:srgbClr val="384653"/>
                </a:solidFill>
                <a:latin typeface="Segoe UI Semibold" panose="020B0702040204020203" pitchFamily="34" charset="0"/>
                <a:ea typeface="Barlow Bold" pitchFamily="34" charset="-122"/>
                <a:cs typeface="Segoe UI Semibold" panose="020B0702040204020203" pitchFamily="34" charset="0"/>
              </a:rPr>
              <a:t>Structured Output</a:t>
            </a:r>
            <a:endParaRPr lang="en-US" sz="140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19202" y="2720907"/>
            <a:ext cx="590111" cy="590111"/>
          </a:xfrm>
          <a:prstGeom prst="rect">
            <a:avLst/>
          </a:prstGeom>
        </p:spPr>
      </p:pic>
      <p:sp>
        <p:nvSpPr>
          <p:cNvPr id="7" name="Text 2"/>
          <p:cNvSpPr/>
          <p:nvPr/>
        </p:nvSpPr>
        <p:spPr>
          <a:xfrm>
            <a:off x="7582201" y="4690587"/>
            <a:ext cx="1723124" cy="698913"/>
          </a:xfrm>
          <a:prstGeom prst="rect">
            <a:avLst/>
          </a:prstGeom>
          <a:noFill/>
          <a:ln/>
        </p:spPr>
        <p:txBody>
          <a:bodyPr wrap="square" lIns="0" tIns="0" rIns="0" bIns="0" rtlCol="0" anchor="t"/>
          <a:lstStyle/>
          <a:p>
            <a:pPr marL="0" indent="0" algn="ctr">
              <a:lnSpc>
                <a:spcPts val="1750"/>
              </a:lnSpc>
              <a:buNone/>
            </a:pPr>
            <a:r>
              <a:rPr lang="en-US" sz="1400" b="1" dirty="0">
                <a:solidFill>
                  <a:srgbClr val="384653"/>
                </a:solidFill>
                <a:latin typeface="Segoe UI Semibold" panose="020B0702040204020203" pitchFamily="34" charset="0"/>
                <a:ea typeface="Barlow Bold" pitchFamily="34" charset="-122"/>
                <a:cs typeface="Segoe UI Semibold" panose="020B0702040204020203" pitchFamily="34" charset="0"/>
              </a:rPr>
              <a:t>Section Summaries</a:t>
            </a:r>
            <a:endParaRPr lang="en-US" sz="140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59396" y="2720907"/>
            <a:ext cx="590111" cy="590111"/>
          </a:xfrm>
          <a:prstGeom prst="rect">
            <a:avLst/>
          </a:prstGeom>
        </p:spPr>
      </p:pic>
      <p:sp>
        <p:nvSpPr>
          <p:cNvPr id="9" name="Text 3"/>
          <p:cNvSpPr/>
          <p:nvPr/>
        </p:nvSpPr>
        <p:spPr>
          <a:xfrm>
            <a:off x="5422395" y="4690587"/>
            <a:ext cx="1723124" cy="698913"/>
          </a:xfrm>
          <a:prstGeom prst="rect">
            <a:avLst/>
          </a:prstGeom>
          <a:noFill/>
          <a:ln/>
        </p:spPr>
        <p:txBody>
          <a:bodyPr wrap="square" lIns="0" tIns="0" rIns="0" bIns="0" rtlCol="0" anchor="t"/>
          <a:lstStyle/>
          <a:p>
            <a:pPr marL="0" indent="0" algn="ctr">
              <a:lnSpc>
                <a:spcPts val="1750"/>
              </a:lnSpc>
              <a:buNone/>
            </a:pPr>
            <a:r>
              <a:rPr lang="en-US" sz="1400" b="1" dirty="0">
                <a:solidFill>
                  <a:srgbClr val="384653"/>
                </a:solidFill>
                <a:latin typeface="Segoe UI Semibold" panose="020B0702040204020203" pitchFamily="34" charset="0"/>
                <a:ea typeface="Barlow Bold" pitchFamily="34" charset="-122"/>
                <a:cs typeface="Segoe UI Semibold" panose="020B0702040204020203" pitchFamily="34" charset="0"/>
              </a:rPr>
              <a:t>Extract Metadata</a:t>
            </a:r>
            <a:endParaRPr lang="en-US" sz="1400" dirty="0"/>
          </a:p>
        </p:txBody>
      </p:sp>
      <p:pic>
        <p:nvPicPr>
          <p:cNvPr id="1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87788" y="2720907"/>
            <a:ext cx="590111" cy="590111"/>
          </a:xfrm>
          <a:prstGeom prst="rect">
            <a:avLst/>
          </a:prstGeom>
        </p:spPr>
      </p:pic>
      <p:sp>
        <p:nvSpPr>
          <p:cNvPr id="11" name="Text 4"/>
          <p:cNvSpPr/>
          <p:nvPr/>
        </p:nvSpPr>
        <p:spPr>
          <a:xfrm>
            <a:off x="3215380" y="4865223"/>
            <a:ext cx="1723124" cy="349456"/>
          </a:xfrm>
          <a:prstGeom prst="rect">
            <a:avLst/>
          </a:prstGeom>
          <a:noFill/>
          <a:ln/>
        </p:spPr>
        <p:txBody>
          <a:bodyPr wrap="none" lIns="0" tIns="0" rIns="0" bIns="0" rtlCol="0" anchor="t"/>
          <a:lstStyle/>
          <a:p>
            <a:pPr marL="0" indent="0" algn="ctr">
              <a:lnSpc>
                <a:spcPts val="1750"/>
              </a:lnSpc>
              <a:buNone/>
            </a:pPr>
            <a:r>
              <a:rPr lang="en-US" sz="1400" b="1" dirty="0">
                <a:solidFill>
                  <a:srgbClr val="384653"/>
                </a:solidFill>
                <a:latin typeface="Segoe UI Semibold" panose="020B0702040204020203" pitchFamily="34" charset="0"/>
                <a:ea typeface="Barlow Bold" pitchFamily="34" charset="-122"/>
                <a:cs typeface="Segoe UI Semibold" panose="020B0702040204020203" pitchFamily="34" charset="0"/>
              </a:rPr>
              <a:t>Upload PDF</a:t>
            </a:r>
            <a:endParaRPr lang="en-US" sz="1400" dirty="0"/>
          </a:p>
        </p:txBody>
      </p:sp>
      <p:sp>
        <p:nvSpPr>
          <p:cNvPr id="12" name="Text 5"/>
          <p:cNvSpPr/>
          <p:nvPr/>
        </p:nvSpPr>
        <p:spPr>
          <a:xfrm>
            <a:off x="758309" y="6068973"/>
            <a:ext cx="13113782" cy="1481733"/>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The ResearchXtract system follows a streamlined four-stage process. Users begin by uploading a research paper in PDF format. The system then automatically extracts metadata and intelligently detects the paper's structural sections. Advanced AI models perform comprehensive analysis including section-wise summarization and extraction of key insights, definitions, and equations. Finally, the system generates a well-structured output document containing organized summaries, highlighted concepts, and optional visual representations of the paper's contributions.</a:t>
            </a:r>
            <a:endParaRPr lang="en-US" sz="15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884992"/>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Segoe UI Semibold" panose="020B0702040204020203" pitchFamily="34" charset="0"/>
                <a:ea typeface="Barlow Bold" pitchFamily="34" charset="-122"/>
                <a:cs typeface="Segoe UI Semibold" panose="020B0702040204020203" pitchFamily="34" charset="0"/>
              </a:rPr>
              <a:t>System Architecture</a:t>
            </a:r>
            <a:endParaRPr lang="en-US" sz="4450" dirty="0"/>
          </a:p>
        </p:txBody>
      </p:sp>
      <p:sp>
        <p:nvSpPr>
          <p:cNvPr id="3" name="Shape 1"/>
          <p:cNvSpPr/>
          <p:nvPr/>
        </p:nvSpPr>
        <p:spPr>
          <a:xfrm>
            <a:off x="758309" y="2030968"/>
            <a:ext cx="6448544" cy="2548533"/>
          </a:xfrm>
          <a:prstGeom prst="roundRect">
            <a:avLst>
              <a:gd name="adj" fmla="val 12752"/>
            </a:avLst>
          </a:prstGeom>
          <a:solidFill>
            <a:srgbClr val="D4E9F7"/>
          </a:solidFill>
          <a:ln w="7620">
            <a:solidFill>
              <a:srgbClr val="BACFDD"/>
            </a:solidFill>
            <a:prstDash val="solid"/>
          </a:ln>
        </p:spPr>
      </p:sp>
      <p:sp>
        <p:nvSpPr>
          <p:cNvPr id="4" name="Text 2"/>
          <p:cNvSpPr/>
          <p:nvPr/>
        </p:nvSpPr>
        <p:spPr>
          <a:xfrm>
            <a:off x="982504" y="2255163"/>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Frontend Layer</a:t>
            </a:r>
            <a:endParaRPr lang="en-US" sz="2200" dirty="0"/>
          </a:p>
        </p:txBody>
      </p:sp>
      <p:sp>
        <p:nvSpPr>
          <p:cNvPr id="5" name="Text 3"/>
          <p:cNvSpPr/>
          <p:nvPr/>
        </p:nvSpPr>
        <p:spPr>
          <a:xfrm>
            <a:off x="982504" y="2741295"/>
            <a:ext cx="6000155" cy="13866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User-friendly interface for PDF upload</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Progress tracking during processing</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Interactive result display and navigation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Export options for summary formats</a:t>
            </a:r>
            <a:endParaRPr lang="en-US" sz="1700" dirty="0"/>
          </a:p>
        </p:txBody>
      </p:sp>
      <p:sp>
        <p:nvSpPr>
          <p:cNvPr id="6" name="Shape 4"/>
          <p:cNvSpPr/>
          <p:nvPr/>
        </p:nvSpPr>
        <p:spPr>
          <a:xfrm>
            <a:off x="7423428" y="2030968"/>
            <a:ext cx="6448663" cy="2548533"/>
          </a:xfrm>
          <a:prstGeom prst="roundRect">
            <a:avLst>
              <a:gd name="adj" fmla="val 12752"/>
            </a:avLst>
          </a:prstGeom>
          <a:solidFill>
            <a:srgbClr val="D4E9F7"/>
          </a:solidFill>
          <a:ln w="7620">
            <a:solidFill>
              <a:srgbClr val="BACFDD"/>
            </a:solidFill>
            <a:prstDash val="solid"/>
          </a:ln>
        </p:spPr>
      </p:sp>
      <p:sp>
        <p:nvSpPr>
          <p:cNvPr id="7" name="Text 5"/>
          <p:cNvSpPr/>
          <p:nvPr/>
        </p:nvSpPr>
        <p:spPr>
          <a:xfrm>
            <a:off x="7647623" y="2255163"/>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Backend Processing</a:t>
            </a:r>
            <a:endParaRPr lang="en-US" sz="2200" dirty="0"/>
          </a:p>
        </p:txBody>
      </p:sp>
      <p:sp>
        <p:nvSpPr>
          <p:cNvPr id="8" name="Text 6"/>
          <p:cNvSpPr/>
          <p:nvPr/>
        </p:nvSpPr>
        <p:spPr>
          <a:xfrm>
            <a:off x="7647623" y="2741295"/>
            <a:ext cx="6000274" cy="13866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PDF text extraction and parsing</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Section boundary detection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Metadata identification and extraction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Document structure analysis</a:t>
            </a:r>
            <a:endParaRPr lang="en-US" sz="1700" dirty="0"/>
          </a:p>
        </p:txBody>
      </p:sp>
      <p:sp>
        <p:nvSpPr>
          <p:cNvPr id="9" name="Shape 7"/>
          <p:cNvSpPr/>
          <p:nvPr/>
        </p:nvSpPr>
        <p:spPr>
          <a:xfrm>
            <a:off x="758309" y="4341331"/>
            <a:ext cx="6448544" cy="2548533"/>
          </a:xfrm>
          <a:prstGeom prst="roundRect">
            <a:avLst>
              <a:gd name="adj" fmla="val 12752"/>
            </a:avLst>
          </a:prstGeom>
          <a:solidFill>
            <a:srgbClr val="D4E9F7"/>
          </a:solidFill>
          <a:ln w="7620">
            <a:solidFill>
              <a:srgbClr val="BACFDD"/>
            </a:solidFill>
            <a:prstDash val="solid"/>
          </a:ln>
        </p:spPr>
      </p:sp>
      <p:sp>
        <p:nvSpPr>
          <p:cNvPr id="10" name="Text 8"/>
          <p:cNvSpPr/>
          <p:nvPr/>
        </p:nvSpPr>
        <p:spPr>
          <a:xfrm>
            <a:off x="982504" y="4565525"/>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AI Analysis Layer</a:t>
            </a:r>
            <a:endParaRPr lang="en-US" sz="2200" dirty="0"/>
          </a:p>
        </p:txBody>
      </p:sp>
      <p:sp>
        <p:nvSpPr>
          <p:cNvPr id="11" name="Text 9"/>
          <p:cNvSpPr/>
          <p:nvPr/>
        </p:nvSpPr>
        <p:spPr>
          <a:xfrm>
            <a:off x="982504" y="5051658"/>
            <a:ext cx="6000155" cy="13866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Transformer-based NLP models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Abstractive summarization engine</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Named entity recognition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Equation and formula extraction</a:t>
            </a:r>
            <a:endParaRPr lang="en-US" sz="1700" dirty="0"/>
          </a:p>
        </p:txBody>
      </p:sp>
      <p:sp>
        <p:nvSpPr>
          <p:cNvPr id="12" name="Shape 10"/>
          <p:cNvSpPr/>
          <p:nvPr/>
        </p:nvSpPr>
        <p:spPr>
          <a:xfrm>
            <a:off x="7423428" y="4341331"/>
            <a:ext cx="6448663" cy="2548533"/>
          </a:xfrm>
          <a:prstGeom prst="roundRect">
            <a:avLst>
              <a:gd name="adj" fmla="val 12752"/>
            </a:avLst>
          </a:prstGeom>
          <a:solidFill>
            <a:srgbClr val="D4E9F7"/>
          </a:solidFill>
          <a:ln w="7620">
            <a:solidFill>
              <a:srgbClr val="BACFDD"/>
            </a:solidFill>
            <a:prstDash val="solid"/>
          </a:ln>
        </p:spPr>
      </p:sp>
      <p:sp>
        <p:nvSpPr>
          <p:cNvPr id="13" name="Text 11"/>
          <p:cNvSpPr/>
          <p:nvPr/>
        </p:nvSpPr>
        <p:spPr>
          <a:xfrm>
            <a:off x="7647623" y="4565525"/>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Output Generation</a:t>
            </a:r>
            <a:endParaRPr lang="en-US" sz="2200" dirty="0"/>
          </a:p>
        </p:txBody>
      </p:sp>
      <p:sp>
        <p:nvSpPr>
          <p:cNvPr id="14" name="Text 12"/>
          <p:cNvSpPr/>
          <p:nvPr/>
        </p:nvSpPr>
        <p:spPr>
          <a:xfrm>
            <a:off x="7647623" y="5051658"/>
            <a:ext cx="6000274" cy="13866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Structured summary compilation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Key insight highlighting</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Visual representation creation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Formatted document generation</a:t>
            </a:r>
            <a:endParaRPr lang="en-US" sz="17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791885"/>
            <a:ext cx="6906697" cy="676989"/>
          </a:xfrm>
          <a:prstGeom prst="rect">
            <a:avLst/>
          </a:prstGeom>
          <a:noFill/>
          <a:ln/>
        </p:spPr>
        <p:txBody>
          <a:bodyPr wrap="none" lIns="0" tIns="0" rIns="0" bIns="0" rtlCol="0" anchor="t"/>
          <a:lstStyle/>
          <a:p>
            <a:pPr marL="0" indent="0" algn="l">
              <a:lnSpc>
                <a:spcPts val="5300"/>
              </a:lnSpc>
              <a:buNone/>
            </a:pPr>
            <a:r>
              <a:rPr lang="en-US" sz="4250" b="1" dirty="0">
                <a:solidFill>
                  <a:srgbClr val="2E3C4E"/>
                </a:solidFill>
                <a:latin typeface="Segoe UI Semibold" panose="020B0702040204020203" pitchFamily="34" charset="0"/>
                <a:ea typeface="Barlow Bold" pitchFamily="34" charset="-122"/>
                <a:cs typeface="Segoe UI Semibold" panose="020B0702040204020203" pitchFamily="34" charset="0"/>
              </a:rPr>
              <a:t>Technologies Used &amp; Results</a:t>
            </a:r>
            <a:endParaRPr lang="en-US" sz="42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309" y="1982033"/>
            <a:ext cx="514469" cy="514469"/>
          </a:xfrm>
          <a:prstGeom prst="rect">
            <a:avLst/>
          </a:prstGeom>
        </p:spPr>
      </p:pic>
      <p:sp>
        <p:nvSpPr>
          <p:cNvPr id="4" name="Text 1"/>
          <p:cNvSpPr/>
          <p:nvPr/>
        </p:nvSpPr>
        <p:spPr>
          <a:xfrm>
            <a:off x="1517094" y="1982033"/>
            <a:ext cx="2708196" cy="338495"/>
          </a:xfrm>
          <a:prstGeom prst="rect">
            <a:avLst/>
          </a:prstGeom>
          <a:noFill/>
          <a:ln/>
        </p:spPr>
        <p:txBody>
          <a:bodyPr wrap="none" lIns="0" tIns="0" rIns="0" bIns="0" rtlCol="0" anchor="t"/>
          <a:lstStyle/>
          <a:p>
            <a:pPr marL="0" indent="0" algn="l">
              <a:lnSpc>
                <a:spcPts val="2650"/>
              </a:lnSpc>
              <a:buNone/>
            </a:pPr>
            <a:r>
              <a:rPr lang="en-US" sz="2100" b="1" dirty="0">
                <a:solidFill>
                  <a:srgbClr val="384653"/>
                </a:solidFill>
                <a:latin typeface="Segoe UI Semibold" panose="020B0702040204020203" pitchFamily="34" charset="0"/>
                <a:ea typeface="Barlow Bold" pitchFamily="34" charset="-122"/>
                <a:cs typeface="Segoe UI Semibold" panose="020B0702040204020203" pitchFamily="34" charset="0"/>
              </a:rPr>
              <a:t>Python</a:t>
            </a:r>
            <a:endParaRPr lang="en-US" sz="2100" dirty="0"/>
          </a:p>
        </p:txBody>
      </p:sp>
      <p:sp>
        <p:nvSpPr>
          <p:cNvPr id="5" name="Text 2"/>
          <p:cNvSpPr/>
          <p:nvPr/>
        </p:nvSpPr>
        <p:spPr>
          <a:xfrm>
            <a:off x="1517094" y="2516029"/>
            <a:ext cx="5547003" cy="642223"/>
          </a:xfrm>
          <a:prstGeom prst="rect">
            <a:avLst/>
          </a:prstGeom>
          <a:noFill/>
          <a:ln/>
        </p:spPr>
        <p:txBody>
          <a:bodyPr wrap="square" lIns="0" tIns="0" rIns="0" bIns="0" rtlCol="0" anchor="t"/>
          <a:lstStyle/>
          <a:p>
            <a:pPr marL="0" indent="0" algn="l">
              <a:lnSpc>
                <a:spcPts val="2500"/>
              </a:lnSpc>
              <a:buNone/>
            </a:pPr>
            <a:r>
              <a:rPr lang="en-US" sz="1600" dirty="0">
                <a:solidFill>
                  <a:srgbClr val="384653"/>
                </a:solidFill>
                <a:latin typeface="Montserrat" pitchFamily="34" charset="0"/>
                <a:ea typeface="Montserrat" pitchFamily="34" charset="-122"/>
                <a:cs typeface="Montserrat" pitchFamily="34" charset="-120"/>
              </a:rPr>
              <a:t>Core programming language for backend development and integration</a:t>
            </a:r>
            <a:endParaRPr lang="en-US" sz="160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309" y="3549253"/>
            <a:ext cx="514469" cy="514469"/>
          </a:xfrm>
          <a:prstGeom prst="rect">
            <a:avLst/>
          </a:prstGeom>
        </p:spPr>
      </p:pic>
      <p:sp>
        <p:nvSpPr>
          <p:cNvPr id="7" name="Text 3"/>
          <p:cNvSpPr/>
          <p:nvPr/>
        </p:nvSpPr>
        <p:spPr>
          <a:xfrm>
            <a:off x="1517094" y="3549253"/>
            <a:ext cx="2708196" cy="338495"/>
          </a:xfrm>
          <a:prstGeom prst="rect">
            <a:avLst/>
          </a:prstGeom>
          <a:noFill/>
          <a:ln/>
        </p:spPr>
        <p:txBody>
          <a:bodyPr wrap="none" lIns="0" tIns="0" rIns="0" bIns="0" rtlCol="0" anchor="t"/>
          <a:lstStyle/>
          <a:p>
            <a:pPr marL="0" indent="0" algn="l">
              <a:lnSpc>
                <a:spcPts val="2650"/>
              </a:lnSpc>
              <a:buNone/>
            </a:pPr>
            <a:r>
              <a:rPr lang="en-US" sz="2100" b="1" dirty="0">
                <a:solidFill>
                  <a:srgbClr val="384653"/>
                </a:solidFill>
                <a:latin typeface="Segoe UI Semibold" panose="020B0702040204020203" pitchFamily="34" charset="0"/>
                <a:ea typeface="Barlow Bold" pitchFamily="34" charset="-122"/>
                <a:cs typeface="Segoe UI Semibold" panose="020B0702040204020203" pitchFamily="34" charset="0"/>
              </a:rPr>
              <a:t>NLP &amp; Transformers</a:t>
            </a:r>
            <a:endParaRPr lang="en-US" sz="2100" dirty="0"/>
          </a:p>
        </p:txBody>
      </p:sp>
      <p:sp>
        <p:nvSpPr>
          <p:cNvPr id="8" name="Text 4"/>
          <p:cNvSpPr/>
          <p:nvPr/>
        </p:nvSpPr>
        <p:spPr>
          <a:xfrm>
            <a:off x="1517094" y="4083248"/>
            <a:ext cx="5547003" cy="642223"/>
          </a:xfrm>
          <a:prstGeom prst="rect">
            <a:avLst/>
          </a:prstGeom>
          <a:noFill/>
          <a:ln/>
        </p:spPr>
        <p:txBody>
          <a:bodyPr wrap="square" lIns="0" tIns="0" rIns="0" bIns="0" rtlCol="0" anchor="t"/>
          <a:lstStyle/>
          <a:p>
            <a:pPr marL="0" indent="0" algn="l">
              <a:lnSpc>
                <a:spcPts val="2500"/>
              </a:lnSpc>
              <a:buNone/>
            </a:pPr>
            <a:r>
              <a:rPr lang="en-US" sz="1600" dirty="0">
                <a:solidFill>
                  <a:srgbClr val="384653"/>
                </a:solidFill>
                <a:latin typeface="Montserrat" pitchFamily="34" charset="0"/>
                <a:ea typeface="Montserrat" pitchFamily="34" charset="-122"/>
                <a:cs typeface="Montserrat" pitchFamily="34" charset="-120"/>
              </a:rPr>
              <a:t>BERT, GPT-based models for text understanding and summarization</a:t>
            </a:r>
            <a:endParaRPr lang="en-US" sz="160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309" y="5116473"/>
            <a:ext cx="514469" cy="514469"/>
          </a:xfrm>
          <a:prstGeom prst="rect">
            <a:avLst/>
          </a:prstGeom>
        </p:spPr>
      </p:pic>
      <p:sp>
        <p:nvSpPr>
          <p:cNvPr id="10" name="Text 5"/>
          <p:cNvSpPr/>
          <p:nvPr/>
        </p:nvSpPr>
        <p:spPr>
          <a:xfrm>
            <a:off x="1517094" y="5116473"/>
            <a:ext cx="2708196" cy="338495"/>
          </a:xfrm>
          <a:prstGeom prst="rect">
            <a:avLst/>
          </a:prstGeom>
          <a:noFill/>
          <a:ln/>
        </p:spPr>
        <p:txBody>
          <a:bodyPr wrap="none" lIns="0" tIns="0" rIns="0" bIns="0" rtlCol="0" anchor="t"/>
          <a:lstStyle/>
          <a:p>
            <a:pPr marL="0" indent="0" algn="l">
              <a:lnSpc>
                <a:spcPts val="2650"/>
              </a:lnSpc>
              <a:buNone/>
            </a:pPr>
            <a:r>
              <a:rPr lang="en-US" sz="2100" b="1" dirty="0">
                <a:solidFill>
                  <a:srgbClr val="384653"/>
                </a:solidFill>
                <a:latin typeface="Segoe UI Semibold" panose="020B0702040204020203" pitchFamily="34" charset="0"/>
                <a:ea typeface="Barlow Bold" pitchFamily="34" charset="-122"/>
                <a:cs typeface="Segoe UI Semibold" panose="020B0702040204020203" pitchFamily="34" charset="0"/>
              </a:rPr>
              <a:t>PDF Processing</a:t>
            </a:r>
            <a:endParaRPr lang="en-US" sz="2100" dirty="0"/>
          </a:p>
        </p:txBody>
      </p:sp>
      <p:sp>
        <p:nvSpPr>
          <p:cNvPr id="11" name="Text 6"/>
          <p:cNvSpPr/>
          <p:nvPr/>
        </p:nvSpPr>
        <p:spPr>
          <a:xfrm>
            <a:off x="1517094" y="5650468"/>
            <a:ext cx="5547003" cy="321112"/>
          </a:xfrm>
          <a:prstGeom prst="rect">
            <a:avLst/>
          </a:prstGeom>
          <a:noFill/>
          <a:ln/>
        </p:spPr>
        <p:txBody>
          <a:bodyPr wrap="none" lIns="0" tIns="0" rIns="0" bIns="0" rtlCol="0" anchor="t"/>
          <a:lstStyle/>
          <a:p>
            <a:pPr marL="0" indent="0" algn="l">
              <a:lnSpc>
                <a:spcPts val="2500"/>
              </a:lnSpc>
              <a:buNone/>
            </a:pPr>
            <a:r>
              <a:rPr lang="en-US" sz="1600" dirty="0">
                <a:solidFill>
                  <a:srgbClr val="384653"/>
                </a:solidFill>
                <a:latin typeface="Montserrat" pitchFamily="34" charset="0"/>
                <a:ea typeface="Montserrat" pitchFamily="34" charset="-122"/>
                <a:cs typeface="Montserrat" pitchFamily="34" charset="-120"/>
              </a:rPr>
              <a:t>PyPDF2, PDFMiner for text extraction and parsing</a:t>
            </a:r>
            <a:endParaRPr lang="en-US" sz="160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8309" y="6089010"/>
            <a:ext cx="514469" cy="514469"/>
          </a:xfrm>
          <a:prstGeom prst="rect">
            <a:avLst/>
          </a:prstGeom>
        </p:spPr>
      </p:pic>
      <p:sp>
        <p:nvSpPr>
          <p:cNvPr id="13" name="Text 7"/>
          <p:cNvSpPr/>
          <p:nvPr/>
        </p:nvSpPr>
        <p:spPr>
          <a:xfrm>
            <a:off x="1517094" y="6089010"/>
            <a:ext cx="2708196" cy="338495"/>
          </a:xfrm>
          <a:prstGeom prst="rect">
            <a:avLst/>
          </a:prstGeom>
          <a:noFill/>
          <a:ln/>
        </p:spPr>
        <p:txBody>
          <a:bodyPr wrap="none" lIns="0" tIns="0" rIns="0" bIns="0" rtlCol="0" anchor="t"/>
          <a:lstStyle/>
          <a:p>
            <a:pPr marL="0" indent="0" algn="l">
              <a:lnSpc>
                <a:spcPts val="2650"/>
              </a:lnSpc>
              <a:buNone/>
            </a:pPr>
            <a:r>
              <a:rPr lang="en-US" sz="2100" b="1" dirty="0">
                <a:solidFill>
                  <a:srgbClr val="384653"/>
                </a:solidFill>
                <a:latin typeface="Segoe UI Semibold" panose="020B0702040204020203" pitchFamily="34" charset="0"/>
                <a:ea typeface="Barlow Bold" pitchFamily="34" charset="-122"/>
                <a:cs typeface="Segoe UI Semibold" panose="020B0702040204020203" pitchFamily="34" charset="0"/>
              </a:rPr>
              <a:t>Visualization</a:t>
            </a:r>
            <a:endParaRPr lang="en-US" sz="2100" dirty="0"/>
          </a:p>
        </p:txBody>
      </p:sp>
      <p:sp>
        <p:nvSpPr>
          <p:cNvPr id="14" name="Text 8"/>
          <p:cNvSpPr/>
          <p:nvPr/>
        </p:nvSpPr>
        <p:spPr>
          <a:xfrm>
            <a:off x="1517094" y="6623005"/>
            <a:ext cx="5547003" cy="321112"/>
          </a:xfrm>
          <a:prstGeom prst="rect">
            <a:avLst/>
          </a:prstGeom>
          <a:noFill/>
          <a:ln/>
        </p:spPr>
        <p:txBody>
          <a:bodyPr wrap="none" lIns="0" tIns="0" rIns="0" bIns="0" rtlCol="0" anchor="t"/>
          <a:lstStyle/>
          <a:p>
            <a:pPr marL="0" indent="0" algn="l">
              <a:lnSpc>
                <a:spcPts val="2500"/>
              </a:lnSpc>
              <a:buNone/>
            </a:pPr>
            <a:r>
              <a:rPr lang="en-US" sz="1600" dirty="0">
                <a:solidFill>
                  <a:srgbClr val="384653"/>
                </a:solidFill>
                <a:latin typeface="Montserrat" pitchFamily="34" charset="0"/>
                <a:ea typeface="Montserrat" pitchFamily="34" charset="-122"/>
                <a:cs typeface="Montserrat" pitchFamily="34" charset="-120"/>
              </a:rPr>
              <a:t>Matplotlib, Plotly for generating insight visualizations</a:t>
            </a:r>
            <a:endParaRPr lang="en-US" sz="1600" dirty="0"/>
          </a:p>
        </p:txBody>
      </p:sp>
      <p:sp>
        <p:nvSpPr>
          <p:cNvPr id="15" name="Text 9"/>
          <p:cNvSpPr/>
          <p:nvPr/>
        </p:nvSpPr>
        <p:spPr>
          <a:xfrm>
            <a:off x="7573923" y="1957626"/>
            <a:ext cx="3249930" cy="406241"/>
          </a:xfrm>
          <a:prstGeom prst="rect">
            <a:avLst/>
          </a:prstGeom>
          <a:noFill/>
          <a:ln/>
        </p:spPr>
        <p:txBody>
          <a:bodyPr wrap="none" lIns="0" tIns="0" rIns="0" bIns="0" rtlCol="0" anchor="t"/>
          <a:lstStyle/>
          <a:p>
            <a:pPr marL="0" indent="0" algn="l">
              <a:lnSpc>
                <a:spcPts val="3150"/>
              </a:lnSpc>
              <a:buNone/>
            </a:pPr>
            <a:r>
              <a:rPr lang="en-US" sz="2550" b="1" dirty="0">
                <a:solidFill>
                  <a:srgbClr val="2E3C4E"/>
                </a:solidFill>
                <a:latin typeface="Segoe UI Semibold" panose="020B0702040204020203" pitchFamily="34" charset="0"/>
                <a:ea typeface="Barlow Bold" pitchFamily="34" charset="-122"/>
                <a:cs typeface="Segoe UI Semibold" panose="020B0702040204020203" pitchFamily="34" charset="0"/>
              </a:rPr>
              <a:t>Sample Results</a:t>
            </a:r>
            <a:endParaRPr lang="en-US" sz="2550" dirty="0"/>
          </a:p>
        </p:txBody>
      </p:sp>
      <p:sp>
        <p:nvSpPr>
          <p:cNvPr id="16" name="Text 10"/>
          <p:cNvSpPr/>
          <p:nvPr/>
        </p:nvSpPr>
        <p:spPr>
          <a:xfrm>
            <a:off x="7573923" y="2559368"/>
            <a:ext cx="6305788" cy="3532024"/>
          </a:xfrm>
          <a:prstGeom prst="rect">
            <a:avLst/>
          </a:prstGeom>
          <a:noFill/>
          <a:ln/>
        </p:spPr>
        <p:txBody>
          <a:bodyPr wrap="square" lIns="0" tIns="0" rIns="0" bIns="0" rtlCol="0" anchor="t"/>
          <a:lstStyle/>
          <a:p>
            <a:pPr marL="342900" indent="-342900" algn="l">
              <a:lnSpc>
                <a:spcPts val="2500"/>
              </a:lnSpc>
              <a:buSzPct val="100000"/>
              <a:buChar char="•"/>
            </a:pPr>
            <a:r>
              <a:rPr lang="en-US" sz="1600" dirty="0">
                <a:solidFill>
                  <a:srgbClr val="384653"/>
                </a:solidFill>
                <a:latin typeface="Montserrat" pitchFamily="34" charset="0"/>
                <a:ea typeface="Montserrat" pitchFamily="34" charset="-122"/>
                <a:cs typeface="Montserrat" pitchFamily="34" charset="-120"/>
              </a:rPr>
              <a:t>Successfully processed research papers across multiple domains including computer science, engineering, and life sciences</a:t>
            </a:r>
            <a:endParaRPr lang="en-US" sz="1600" dirty="0"/>
          </a:p>
          <a:p>
            <a:pPr marL="342900" indent="-342900" algn="l">
              <a:lnSpc>
                <a:spcPts val="2500"/>
              </a:lnSpc>
              <a:buSzPct val="100000"/>
              <a:buChar char="•"/>
            </a:pPr>
            <a:r>
              <a:rPr lang="en-US" sz="1600" dirty="0">
                <a:solidFill>
                  <a:srgbClr val="384653"/>
                </a:solidFill>
                <a:latin typeface="Montserrat" pitchFamily="34" charset="0"/>
                <a:ea typeface="Montserrat" pitchFamily="34" charset="-122"/>
                <a:cs typeface="Montserrat" pitchFamily="34" charset="-120"/>
              </a:rPr>
              <a:t>Achieved average summarization accuracy of 85-90% as evaluated against human-generated summaries</a:t>
            </a:r>
            <a:endParaRPr lang="en-US" sz="1600" dirty="0"/>
          </a:p>
          <a:p>
            <a:pPr marL="342900" indent="-342900" algn="l">
              <a:lnSpc>
                <a:spcPts val="2500"/>
              </a:lnSpc>
              <a:buSzPct val="100000"/>
              <a:buChar char="•"/>
            </a:pPr>
            <a:r>
              <a:rPr lang="en-US" sz="1600" dirty="0">
                <a:solidFill>
                  <a:srgbClr val="384653"/>
                </a:solidFill>
                <a:latin typeface="Montserrat" pitchFamily="34" charset="0"/>
                <a:ea typeface="Montserrat" pitchFamily="34" charset="-122"/>
                <a:cs typeface="Montserrat" pitchFamily="34" charset="-120"/>
              </a:rPr>
              <a:t>Reduced paper analysis time from 2-3 hours to under 5 minutes per document</a:t>
            </a:r>
            <a:endParaRPr lang="en-US" sz="1600" dirty="0"/>
          </a:p>
          <a:p>
            <a:pPr marL="342900" indent="-342900" algn="l">
              <a:lnSpc>
                <a:spcPts val="2500"/>
              </a:lnSpc>
              <a:buSzPct val="100000"/>
              <a:buChar char="•"/>
            </a:pPr>
            <a:r>
              <a:rPr lang="en-US" sz="1600" dirty="0">
                <a:solidFill>
                  <a:srgbClr val="384653"/>
                </a:solidFill>
                <a:latin typeface="Montserrat" pitchFamily="34" charset="0"/>
                <a:ea typeface="Montserrat" pitchFamily="34" charset="-122"/>
                <a:cs typeface="Montserrat" pitchFamily="34" charset="-120"/>
              </a:rPr>
              <a:t>Correctly identified and extracted 95% of mathematical equations and key definitions</a:t>
            </a:r>
            <a:endParaRPr lang="en-US" sz="1600" dirty="0"/>
          </a:p>
          <a:p>
            <a:pPr marL="342900" indent="-342900" algn="l">
              <a:lnSpc>
                <a:spcPts val="2500"/>
              </a:lnSpc>
              <a:buSzPct val="100000"/>
              <a:buChar char="•"/>
            </a:pPr>
            <a:r>
              <a:rPr lang="en-US" sz="1600" dirty="0">
                <a:solidFill>
                  <a:srgbClr val="384653"/>
                </a:solidFill>
                <a:latin typeface="Montserrat" pitchFamily="34" charset="0"/>
                <a:ea typeface="Montserrat" pitchFamily="34" charset="-122"/>
                <a:cs typeface="Montserrat" pitchFamily="34" charset="-120"/>
              </a:rPr>
              <a:t>Generated well-structured outputs with clear section organization and highlighted insights</a:t>
            </a:r>
            <a:endParaRPr lang="en-US" sz="16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8309" y="707350"/>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Segoe UI Semibold" panose="020B0702040204020203" pitchFamily="34" charset="0"/>
                <a:ea typeface="Barlow Bold" pitchFamily="34" charset="-122"/>
                <a:cs typeface="Segoe UI Semibold" panose="020B0702040204020203" pitchFamily="34" charset="0"/>
              </a:rPr>
              <a:t>Conclusion</a:t>
            </a:r>
            <a:endParaRPr lang="en-US" sz="4450" dirty="0"/>
          </a:p>
        </p:txBody>
      </p:sp>
      <p:sp>
        <p:nvSpPr>
          <p:cNvPr id="3" name="Shape 1"/>
          <p:cNvSpPr/>
          <p:nvPr/>
        </p:nvSpPr>
        <p:spPr>
          <a:xfrm>
            <a:off x="758309" y="1853327"/>
            <a:ext cx="4226838" cy="5668923"/>
          </a:xfrm>
          <a:prstGeom prst="roundRect">
            <a:avLst>
              <a:gd name="adj" fmla="val 7689"/>
            </a:avLst>
          </a:prstGeom>
          <a:solidFill>
            <a:srgbClr val="D4E9F7"/>
          </a:solidFill>
          <a:ln w="7620">
            <a:solidFill>
              <a:srgbClr val="BACFDD"/>
            </a:solidFill>
            <a:prstDash val="solid"/>
          </a:ln>
        </p:spPr>
      </p:sp>
      <p:sp>
        <p:nvSpPr>
          <p:cNvPr id="4" name="Text 2"/>
          <p:cNvSpPr/>
          <p:nvPr/>
        </p:nvSpPr>
        <p:spPr>
          <a:xfrm>
            <a:off x="982504" y="207752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Advantages</a:t>
            </a:r>
            <a:endParaRPr lang="en-US" sz="2200" dirty="0"/>
          </a:p>
        </p:txBody>
      </p:sp>
      <p:sp>
        <p:nvSpPr>
          <p:cNvPr id="5" name="Text 3"/>
          <p:cNvSpPr/>
          <p:nvPr/>
        </p:nvSpPr>
        <p:spPr>
          <a:xfrm>
            <a:off x="982504" y="2563654"/>
            <a:ext cx="3778448" cy="450657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Provides accurate, academically-focused summaries tailored for research papers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Maintains structural organization and coherence in generated summaries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Saves significant time in literature review and paper analysis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Extracts technical elements like equations and definitions with high precision</a:t>
            </a:r>
            <a:endParaRPr lang="en-US" sz="1700" dirty="0"/>
          </a:p>
        </p:txBody>
      </p:sp>
      <p:sp>
        <p:nvSpPr>
          <p:cNvPr id="6" name="Shape 4"/>
          <p:cNvSpPr/>
          <p:nvPr/>
        </p:nvSpPr>
        <p:spPr>
          <a:xfrm>
            <a:off x="5201722" y="1853327"/>
            <a:ext cx="4226838" cy="5668923"/>
          </a:xfrm>
          <a:prstGeom prst="roundRect">
            <a:avLst>
              <a:gd name="adj" fmla="val 7689"/>
            </a:avLst>
          </a:prstGeom>
          <a:solidFill>
            <a:srgbClr val="D4E9F7"/>
          </a:solidFill>
          <a:ln w="7620">
            <a:solidFill>
              <a:srgbClr val="BACFDD"/>
            </a:solidFill>
            <a:prstDash val="solid"/>
          </a:ln>
        </p:spPr>
      </p:sp>
      <p:sp>
        <p:nvSpPr>
          <p:cNvPr id="7" name="Text 5"/>
          <p:cNvSpPr/>
          <p:nvPr/>
        </p:nvSpPr>
        <p:spPr>
          <a:xfrm>
            <a:off x="5425916" y="207752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Limitations</a:t>
            </a:r>
            <a:endParaRPr lang="en-US" sz="2200" dirty="0"/>
          </a:p>
        </p:txBody>
      </p:sp>
      <p:sp>
        <p:nvSpPr>
          <p:cNvPr id="8" name="Text 6"/>
          <p:cNvSpPr/>
          <p:nvPr/>
        </p:nvSpPr>
        <p:spPr>
          <a:xfrm>
            <a:off x="5425916" y="2563654"/>
            <a:ext cx="3778448" cy="346659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Current version limited to papers up to 25 pages in length</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Processing time increases with document complexity and length</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May require manual verification for highly specialized domain terminology</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PDF quality affects text extraction accuracy</a:t>
            </a:r>
            <a:endParaRPr lang="en-US" sz="1700" dirty="0"/>
          </a:p>
        </p:txBody>
      </p:sp>
      <p:sp>
        <p:nvSpPr>
          <p:cNvPr id="9" name="Shape 7"/>
          <p:cNvSpPr/>
          <p:nvPr/>
        </p:nvSpPr>
        <p:spPr>
          <a:xfrm>
            <a:off x="9645134" y="1853327"/>
            <a:ext cx="4226957" cy="5668923"/>
          </a:xfrm>
          <a:prstGeom prst="roundRect">
            <a:avLst>
              <a:gd name="adj" fmla="val 7689"/>
            </a:avLst>
          </a:prstGeom>
          <a:solidFill>
            <a:srgbClr val="D4E9F7"/>
          </a:solidFill>
          <a:ln w="7620">
            <a:solidFill>
              <a:srgbClr val="BACFDD"/>
            </a:solidFill>
            <a:prstDash val="solid"/>
          </a:ln>
        </p:spPr>
      </p:sp>
      <p:sp>
        <p:nvSpPr>
          <p:cNvPr id="10" name="Text 8"/>
          <p:cNvSpPr/>
          <p:nvPr/>
        </p:nvSpPr>
        <p:spPr>
          <a:xfrm>
            <a:off x="9869329" y="207752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Segoe UI Semibold" panose="020B0702040204020203" pitchFamily="34" charset="0"/>
                <a:ea typeface="Barlow Bold" pitchFamily="34" charset="-122"/>
                <a:cs typeface="Segoe UI Semibold" panose="020B0702040204020203" pitchFamily="34" charset="0"/>
              </a:rPr>
              <a:t>Future Scope</a:t>
            </a:r>
            <a:endParaRPr lang="en-US" sz="2200" dirty="0"/>
          </a:p>
        </p:txBody>
      </p:sp>
      <p:sp>
        <p:nvSpPr>
          <p:cNvPr id="11" name="Text 9"/>
          <p:cNvSpPr/>
          <p:nvPr/>
        </p:nvSpPr>
        <p:spPr>
          <a:xfrm>
            <a:off x="9869329" y="2563654"/>
            <a:ext cx="3778568" cy="450657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Extend support for larger documents including dissertations and technical reports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Implement conversational chatbot interface for interactive paper exploration</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Develop advanced recommendation engine for related paper discovery</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Add multi-language support for international research papers</a:t>
            </a:r>
            <a:endParaRPr lang="en-US" sz="1700"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1150</Words>
  <Application>Microsoft Office PowerPoint</Application>
  <PresentationFormat>Custom</PresentationFormat>
  <Paragraphs>137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Barlow Light</vt:lpstr>
      <vt:lpstr>Arial</vt:lpstr>
      <vt:lpstr>Montserrat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Sharanya Selvam</dc:creator>
  <cp:lastModifiedBy>Pinky</cp:lastModifiedBy>
  <cp:revision>2</cp:revision>
  <dcterms:created xsi:type="dcterms:W3CDTF">2026-02-02T18:09:51Z</dcterms:created>
  <dcterms:modified xsi:type="dcterms:W3CDTF">2026-02-02T18:43:34Z</dcterms:modified>
</cp:coreProperties>
</file>